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Override1.xml" ContentType="application/vnd.openxmlformats-officedocument.themeOverride+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5"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2.xml"/><Relationship Id="rId7" Type="http://schemas.openxmlformats.org/officeDocument/2006/relationships/image" Target="../media/image1.e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slideMaster" Target="../slideMasters/slideMaster1.xml"/><Relationship Id="rId10" Type="http://schemas.microsoft.com/office/2007/relationships/hdphoto" Target="../media/hdphoto1.wdp"/><Relationship Id="rId4" Type="http://schemas.openxmlformats.org/officeDocument/2006/relationships/tags" Target="../tags/tag3.xml"/><Relationship Id="rId9"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5.png"/><Relationship Id="rId2" Type="http://schemas.openxmlformats.org/officeDocument/2006/relationships/vmlDrawing" Target="../drawings/vmlDrawing2.vml"/><Relationship Id="rId1" Type="http://schemas.openxmlformats.org/officeDocument/2006/relationships/themeOverride" Target="../theme/themeOverride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BE78604-AF18-43DF-BF4B-77F205F5BAEE}" type="datetimeFigureOut">
              <a:rPr lang="en-US" smtClean="0"/>
              <a:t>18/03/2026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4174953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E78604-AF18-43DF-BF4B-77F205F5BAEE}" type="datetimeFigureOut">
              <a:rPr lang="en-US" smtClean="0"/>
              <a:t>18/03/2026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1971187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E78604-AF18-43DF-BF4B-77F205F5BAEE}" type="datetimeFigureOut">
              <a:rPr lang="en-US" smtClean="0"/>
              <a:t>18/03/2026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2907801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BE78604-AF18-43DF-BF4B-77F205F5BAEE}" type="datetimeFigureOut">
              <a:rPr lang="en-US" smtClean="0"/>
              <a:t>18/03/2026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2621389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BE78604-AF18-43DF-BF4B-77F205F5BAEE}" type="datetimeFigureOut">
              <a:rPr lang="en-US" smtClean="0"/>
              <a:t>18/03/2026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738507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BE78604-AF18-43DF-BF4B-77F205F5BAEE}" type="datetimeFigureOut">
              <a:rPr lang="en-US" smtClean="0"/>
              <a:t>18/03/2026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2964519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E78604-AF18-43DF-BF4B-77F205F5BAEE}" type="datetimeFigureOut">
              <a:rPr lang="en-US" smtClean="0"/>
              <a:t>18/03/2026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1061279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BE78604-AF18-43DF-BF4B-77F205F5BAEE}" type="datetimeFigureOut">
              <a:rPr lang="en-US" smtClean="0"/>
              <a:t>18/03/2026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650815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BE78604-AF18-43DF-BF4B-77F205F5BAEE}" type="datetimeFigureOut">
              <a:rPr lang="en-US" smtClean="0"/>
              <a:t>18/03/2026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3568406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E78604-AF18-43DF-BF4B-77F205F5BAEE}" type="datetimeFigureOut">
              <a:rPr lang="en-US" smtClean="0"/>
              <a:t>18/03/2026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249247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E78604-AF18-43DF-BF4B-77F205F5BAEE}" type="datetimeFigureOut">
              <a:rPr lang="en-US" smtClean="0"/>
              <a:t>18/03/2026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768F5-5198-46EE-A2F2-651C9BA673A2}" type="slidenum">
              <a:rPr lang="en-US" smtClean="0"/>
              <a:t>‹#›</a:t>
            </a:fld>
            <a:endParaRPr lang="en-US"/>
          </a:p>
        </p:txBody>
      </p:sp>
    </p:spTree>
    <p:extLst>
      <p:ext uri="{BB962C8B-B14F-4D97-AF65-F5344CB8AC3E}">
        <p14:creationId xmlns:p14="http://schemas.microsoft.com/office/powerpoint/2010/main" val="1554345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bg>
      <p:bgPr>
        <a:solidFill>
          <a:srgbClr val="2C2C2C"/>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42" name="think-cell Slide" r:id="rId6" imgW="384" imgH="384" progId="TCLayout.ActiveDocument.1">
                  <p:embed/>
                </p:oleObj>
              </mc:Choice>
              <mc:Fallback>
                <p:oleObj name="think-cell Slide" r:id="rId6" imgW="384" imgH="384"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pic>
        <p:nvPicPr>
          <p:cNvPr id="12" name="Picture 11" descr="_A4-Envelopes.png">
            <a:extLst>
              <a:ext uri="{FF2B5EF4-FFF2-40B4-BE49-F238E27FC236}">
                <a16:creationId xmlns:a16="http://schemas.microsoft.com/office/drawing/2014/main" id="{4A41F66E-A378-4612-A599-5AB2334CCFB7}"/>
              </a:ext>
            </a:extLst>
          </p:cNvPr>
          <p:cNvPicPr>
            <a:picLocks noChangeAspect="1"/>
          </p:cNvPicPr>
          <p:nvPr userDrawn="1"/>
        </p:nvPicPr>
        <p:blipFill>
          <a:blip r:embed="rId8"/>
          <a:srcRect l="35561" t="1809" r="17084" b="15410"/>
          <a:stretch>
            <a:fillRect/>
          </a:stretch>
        </p:blipFill>
        <p:spPr>
          <a:xfrm>
            <a:off x="5219700" y="2"/>
            <a:ext cx="6972299" cy="6857997"/>
          </a:xfrm>
          <a:custGeom>
            <a:avLst/>
            <a:gdLst>
              <a:gd name="connsiteX0" fmla="*/ 0 w 6972299"/>
              <a:gd name="connsiteY0" fmla="*/ 0 h 6857997"/>
              <a:gd name="connsiteX1" fmla="*/ 6972299 w 6972299"/>
              <a:gd name="connsiteY1" fmla="*/ 0 h 6857997"/>
              <a:gd name="connsiteX2" fmla="*/ 6972299 w 6972299"/>
              <a:gd name="connsiteY2" fmla="*/ 6857997 h 6857997"/>
              <a:gd name="connsiteX3" fmla="*/ 0 w 6972299"/>
              <a:gd name="connsiteY3" fmla="*/ 6857997 h 6857997"/>
            </a:gdLst>
            <a:ahLst/>
            <a:cxnLst>
              <a:cxn ang="0">
                <a:pos x="connsiteX0" y="connsiteY0"/>
              </a:cxn>
              <a:cxn ang="0">
                <a:pos x="connsiteX1" y="connsiteY1"/>
              </a:cxn>
              <a:cxn ang="0">
                <a:pos x="connsiteX2" y="connsiteY2"/>
              </a:cxn>
              <a:cxn ang="0">
                <a:pos x="connsiteX3" y="connsiteY3"/>
              </a:cxn>
            </a:cxnLst>
            <a:rect l="l" t="t" r="r" b="b"/>
            <a:pathLst>
              <a:path w="6972299" h="6857997">
                <a:moveTo>
                  <a:pt x="0" y="0"/>
                </a:moveTo>
                <a:lnTo>
                  <a:pt x="6972299" y="0"/>
                </a:lnTo>
                <a:lnTo>
                  <a:pt x="6972299" y="6857997"/>
                </a:lnTo>
                <a:lnTo>
                  <a:pt x="0" y="6857997"/>
                </a:lnTo>
                <a:close/>
              </a:path>
            </a:pathLst>
          </a:custGeom>
        </p:spPr>
      </p:pic>
      <p:sp>
        <p:nvSpPr>
          <p:cNvPr id="3" name="Rectangle 2"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1"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8" name="Overlay">
            <a:extLst>
              <a:ext uri="{FF2B5EF4-FFF2-40B4-BE49-F238E27FC236}">
                <a16:creationId xmlns:a16="http://schemas.microsoft.com/office/drawing/2014/main" id="{C880BBDD-94E0-4266-A45B-0DCD3115E3A4}"/>
              </a:ext>
            </a:extLst>
          </p:cNvPr>
          <p:cNvSpPr/>
          <p:nvPr userDrawn="1">
            <p:custDataLst>
              <p:tags r:id="rId4"/>
            </p:custDataLst>
          </p:nvPr>
        </p:nvSpPr>
        <p:spPr>
          <a:xfrm>
            <a:off x="5219700" y="2"/>
            <a:ext cx="6972299" cy="6857997"/>
          </a:xfrm>
          <a:prstGeom prst="rect">
            <a:avLst/>
          </a:prstGeom>
          <a:gradFill>
            <a:gsLst>
              <a:gs pos="19000">
                <a:srgbClr val="2C2C2C"/>
              </a:gs>
              <a:gs pos="66000">
                <a:schemeClr val="tx1">
                  <a:alpha val="0"/>
                </a:schemeClr>
              </a:gs>
            </a:gsLst>
            <a:lin ang="0" scaled="1"/>
          </a:gra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endParaRPr>
          </a:p>
        </p:txBody>
      </p:sp>
      <p:sp>
        <p:nvSpPr>
          <p:cNvPr id="11" name="Rectangle 10">
            <a:extLst>
              <a:ext uri="{FF2B5EF4-FFF2-40B4-BE49-F238E27FC236}">
                <a16:creationId xmlns:a16="http://schemas.microsoft.com/office/drawing/2014/main" id="{BF1C9875-6A4E-4436-B5B0-7A5484119B01}"/>
              </a:ext>
            </a:extLst>
          </p:cNvPr>
          <p:cNvSpPr/>
          <p:nvPr userDrawn="1"/>
        </p:nvSpPr>
        <p:spPr>
          <a:xfrm flipH="1">
            <a:off x="6188466" y="671119"/>
            <a:ext cx="6003534" cy="1644242"/>
          </a:xfrm>
          <a:prstGeom prst="rect">
            <a:avLst/>
          </a:prstGeom>
          <a:gradFill flip="none" rotWithShape="1">
            <a:gsLst>
              <a:gs pos="50000">
                <a:srgbClr val="17469E"/>
              </a:gs>
              <a:gs pos="0">
                <a:srgbClr val="D71921"/>
              </a:gs>
              <a:gs pos="89000">
                <a:srgbClr val="2C2C2C"/>
              </a:gs>
            </a:gsLst>
            <a:lin ang="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5400">
              <a:solidFill>
                <a:srgbClr val="FFFFFF"/>
              </a:solidFill>
            </a:endParaRPr>
          </a:p>
        </p:txBody>
      </p:sp>
      <p:sp>
        <p:nvSpPr>
          <p:cNvPr id="19" name="Text Placeholder 6">
            <a:extLst>
              <a:ext uri="{FF2B5EF4-FFF2-40B4-BE49-F238E27FC236}">
                <a16:creationId xmlns:a16="http://schemas.microsoft.com/office/drawing/2014/main" id="{06F2C0C1-DD07-4F05-A2C1-F9C28651EF2F}"/>
              </a:ext>
            </a:extLst>
          </p:cNvPr>
          <p:cNvSpPr>
            <a:spLocks noGrp="1"/>
          </p:cNvSpPr>
          <p:nvPr>
            <p:ph type="body" sz="quarter" idx="12" hasCustomPrompt="1"/>
          </p:nvPr>
        </p:nvSpPr>
        <p:spPr bwMode="black">
          <a:xfrm>
            <a:off x="628650" y="5673952"/>
            <a:ext cx="5972940" cy="327148"/>
          </a:xfrm>
          <a:prstGeom prst="rect">
            <a:avLst/>
          </a:prstGeom>
          <a:noFill/>
        </p:spPr>
        <p:txBody>
          <a:bodyPr anchor="ctr"/>
          <a:lstStyle>
            <a:lvl1pPr marL="0" indent="0" algn="l" defTabSz="914400" rtl="0" eaLnBrk="1" latinLnBrk="0" hangingPunct="1">
              <a:lnSpc>
                <a:spcPct val="110000"/>
              </a:lnSpc>
              <a:spcBef>
                <a:spcPts val="600"/>
              </a:spcBef>
              <a:spcAft>
                <a:spcPts val="300"/>
              </a:spcAft>
              <a:buFont typeface="Arial" panose="020B0604020202020204" pitchFamily="34" charset="0"/>
              <a:buNone/>
              <a:defRPr lang="en-US" sz="1600" b="1" kern="1200" baseline="0" dirty="0">
                <a:solidFill>
                  <a:srgbClr val="FFFFFF"/>
                </a:solidFill>
                <a:latin typeface="+mj-lt"/>
                <a:ea typeface="+mn-ea"/>
                <a:cs typeface="+mn-cs"/>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a:t>Click to edit date/place</a:t>
            </a:r>
          </a:p>
        </p:txBody>
      </p:sp>
      <p:sp>
        <p:nvSpPr>
          <p:cNvPr id="20" name="Title 1">
            <a:extLst>
              <a:ext uri="{FF2B5EF4-FFF2-40B4-BE49-F238E27FC236}">
                <a16:creationId xmlns:a16="http://schemas.microsoft.com/office/drawing/2014/main" id="{91AD6E30-9DC3-4843-9605-0D8D5F1BAE75}"/>
              </a:ext>
            </a:extLst>
          </p:cNvPr>
          <p:cNvSpPr>
            <a:spLocks noGrp="1"/>
          </p:cNvSpPr>
          <p:nvPr>
            <p:ph type="ctrTitle" hasCustomPrompt="1"/>
          </p:nvPr>
        </p:nvSpPr>
        <p:spPr bwMode="ltGray">
          <a:xfrm>
            <a:off x="628650" y="2213599"/>
            <a:ext cx="5972940" cy="3183901"/>
          </a:xfrm>
          <a:prstGeom prst="rect">
            <a:avLst/>
          </a:prstGeom>
        </p:spPr>
        <p:txBody>
          <a:bodyPr vert="horz" anchor="t">
            <a:normAutofit/>
          </a:bodyPr>
          <a:lstStyle>
            <a:lvl1pPr algn="l" defTabSz="914400" rtl="0" eaLnBrk="1" latinLnBrk="0" hangingPunct="1">
              <a:lnSpc>
                <a:spcPct val="93000"/>
              </a:lnSpc>
              <a:spcBef>
                <a:spcPct val="0"/>
              </a:spcBef>
              <a:buNone/>
              <a:defRPr lang="en-US" sz="5400" b="1" kern="1200" baseline="0" dirty="0">
                <a:solidFill>
                  <a:srgbClr val="FFFFFF"/>
                </a:solidFill>
                <a:latin typeface="+mj-lt"/>
                <a:ea typeface="+mj-ea"/>
                <a:cs typeface="+mj-cs"/>
                <a:sym typeface="Trebuchet MS" panose="020B0603020202020204" pitchFamily="34" charset="0"/>
              </a:defRPr>
            </a:lvl1pPr>
          </a:lstStyle>
          <a:p>
            <a:r>
              <a:rPr lang="en-US"/>
              <a:t>Title in Title Case</a:t>
            </a:r>
          </a:p>
        </p:txBody>
      </p:sp>
      <p:pic>
        <p:nvPicPr>
          <p:cNvPr id="28" name="Picture 27" descr="Group logo_With tagline_RGB.png">
            <a:extLst>
              <a:ext uri="{FF2B5EF4-FFF2-40B4-BE49-F238E27FC236}">
                <a16:creationId xmlns:a16="http://schemas.microsoft.com/office/drawing/2014/main" id="{303422E1-8A44-405E-B5DA-DBE648F21BC7}"/>
              </a:ext>
            </a:extLst>
          </p:cNvPr>
          <p:cNvPicPr>
            <a:picLocks noChangeAspect="1"/>
          </p:cNvPicPr>
          <p:nvPr userDrawn="1"/>
        </p:nvPicPr>
        <p:blipFill>
          <a:blip r:embed="rId9">
            <a:biLevel thresh="25000"/>
            <a:extLst>
              <a:ext uri="{BEBA8EAE-BF5A-486C-A8C5-ECC9F3942E4B}">
                <a14:imgProps xmlns:a14="http://schemas.microsoft.com/office/drawing/2010/main">
                  <a14:imgLayer r:embed="rId10">
                    <a14:imgEffect>
                      <a14:artisticPhotocopy/>
                    </a14:imgEffect>
                  </a14:imgLayer>
                </a14:imgProps>
              </a:ext>
            </a:extLst>
          </a:blip>
          <a:stretch>
            <a:fillRect/>
          </a:stretch>
        </p:blipFill>
        <p:spPr>
          <a:xfrm>
            <a:off x="9873401" y="743033"/>
            <a:ext cx="2065985" cy="1500414"/>
          </a:xfrm>
          <a:prstGeom prst="rect">
            <a:avLst/>
          </a:prstGeom>
        </p:spPr>
      </p:pic>
    </p:spTree>
    <p:extLst>
      <p:ext uri="{BB962C8B-B14F-4D97-AF65-F5344CB8AC3E}">
        <p14:creationId xmlns:p14="http://schemas.microsoft.com/office/powerpoint/2010/main" val="3546942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Section header line">
    <p:bg bwMode="blackWhite">
      <p:bgPr>
        <a:gradFill>
          <a:gsLst>
            <a:gs pos="25000">
              <a:srgbClr val="17469E"/>
            </a:gs>
            <a:gs pos="100000">
              <a:srgbClr val="D71D21"/>
            </a:gs>
          </a:gsLst>
          <a:lin ang="8100000" scaled="1"/>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B2D2878-0CB9-4C2D-B0EB-1EA357C36285}"/>
              </a:ext>
            </a:extLst>
          </p:cNvPr>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66" name="think-cell Slide" r:id="rId5" imgW="286" imgH="286" progId="TCLayout.ActiveDocument.1">
                  <p:embed/>
                </p:oleObj>
              </mc:Choice>
              <mc:Fallback>
                <p:oleObj name="think-cell Slide" r:id="rId5" imgW="286" imgH="286" progId="TCLayout.ActiveDocument.1">
                  <p:embed/>
                  <p:pic>
                    <p:nvPicPr>
                      <p:cNvPr id="3" name="think-cell data - do not delete" hidden="1">
                        <a:extLst>
                          <a:ext uri="{FF2B5EF4-FFF2-40B4-BE49-F238E27FC236}">
                            <a16:creationId xmlns:a16="http://schemas.microsoft.com/office/drawing/2014/main" id="{5B2D2878-0CB9-4C2D-B0EB-1EA357C3628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47" name="Title 1"/>
          <p:cNvSpPr>
            <a:spLocks noGrp="1"/>
          </p:cNvSpPr>
          <p:nvPr>
            <p:ph type="title" hasCustomPrompt="1"/>
          </p:nvPr>
        </p:nvSpPr>
        <p:spPr bwMode="blackWhite">
          <a:xfrm>
            <a:off x="630000" y="3826800"/>
            <a:ext cx="10936800" cy="2041200"/>
          </a:xfrm>
        </p:spPr>
        <p:txBody>
          <a:bodyPr vert="horz" anchor="t">
            <a:noAutofit/>
          </a:bodyPr>
          <a:lstStyle>
            <a:lvl1pPr>
              <a:defRPr sz="5400">
                <a:solidFill>
                  <a:schemeClr val="bg1"/>
                </a:solidFill>
                <a:latin typeface="+mj-lt"/>
                <a:ea typeface="+mj-ea"/>
                <a:cs typeface="+mj-cs"/>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48AF677-4BFB-4A7B-B988-810D347A7F49}"/>
              </a:ext>
            </a:extLst>
          </p:cNvPr>
          <p:cNvSpPr txBox="1"/>
          <p:nvPr userDrawn="1"/>
        </p:nvSpPr>
        <p:spPr>
          <a:xfrm>
            <a:off x="11167872" y="6405036"/>
            <a:ext cx="381000" cy="153888"/>
          </a:xfrm>
          <a:prstGeom prst="rect">
            <a:avLst/>
          </a:prstGeom>
          <a:noFill/>
        </p:spPr>
        <p:txBody>
          <a:bodyPr wrap="square" lIns="0" tIns="0" rIns="0" bIns="0" rtlCol="0" anchor="b">
            <a:spAutoFit/>
          </a:bodyPr>
          <a:lstStyle/>
          <a:p>
            <a:pPr marL="0" marR="0" lvl="0" indent="0" algn="r" defTabSz="914400"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0" cap="none" spc="0" normalizeH="0" baseline="0" noProof="0" smtClean="0">
                <a:ln>
                  <a:noFill/>
                </a:ln>
                <a:solidFill>
                  <a:srgbClr val="FFFFFF"/>
                </a:solidFill>
                <a:effectLst/>
                <a:uLnTx/>
                <a:uFillTx/>
                <a:latin typeface="+mn-lt"/>
                <a:ea typeface="+mn-ea"/>
                <a:cs typeface="+mn-cs"/>
                <a:sym typeface="+mn-lt"/>
              </a:rPr>
              <a:pPr marL="0" marR="0" lvl="0" indent="0" algn="r" defTabSz="914400" eaLnBrk="1" fontAlgn="auto" latinLnBrk="0" hangingPunct="1">
                <a:lnSpc>
                  <a:spcPct val="100000"/>
                </a:lnSpc>
                <a:spcBef>
                  <a:spcPts val="0"/>
                </a:spcBef>
                <a:spcAft>
                  <a:spcPts val="0"/>
                </a:spcAft>
                <a:buClrTx/>
                <a:buSzTx/>
                <a:buFontTx/>
                <a:buNone/>
                <a:tabLst/>
                <a:defRPr/>
              </a:pPr>
              <a:t>‹#›</a:t>
            </a:fld>
            <a:endParaRPr kumimoji="0" lang="en-US" sz="1000" b="0" i="0" u="none" strike="noStrike" kern="0" cap="none" spc="0" normalizeH="0" baseline="0" noProof="0">
              <a:ln>
                <a:noFill/>
              </a:ln>
              <a:solidFill>
                <a:srgbClr val="FFFFFF"/>
              </a:solidFill>
              <a:effectLst/>
              <a:uLnTx/>
              <a:uFillTx/>
              <a:latin typeface="+mn-lt"/>
              <a:ea typeface="+mn-ea"/>
              <a:cs typeface="+mn-cs"/>
              <a:sym typeface="+mn-lt"/>
            </a:endParaRPr>
          </a:p>
        </p:txBody>
      </p:sp>
      <p:pic>
        <p:nvPicPr>
          <p:cNvPr id="9" name="Picture 8">
            <a:extLst>
              <a:ext uri="{FF2B5EF4-FFF2-40B4-BE49-F238E27FC236}">
                <a16:creationId xmlns:a16="http://schemas.microsoft.com/office/drawing/2014/main" id="{BEA94312-789E-4CA3-9E75-490FBAFE6782}"/>
              </a:ext>
            </a:extLst>
          </p:cNvPr>
          <p:cNvPicPr>
            <a:picLocks noChangeAspect="1"/>
          </p:cNvPicPr>
          <p:nvPr userDrawn="1"/>
        </p:nvPicPr>
        <p:blipFill>
          <a:blip r:embed="rId7">
            <a:biLevel thresh="25000"/>
          </a:blip>
          <a:srcRect l="82451"/>
          <a:stretch>
            <a:fillRect/>
          </a:stretch>
        </p:blipFill>
        <p:spPr>
          <a:xfrm>
            <a:off x="0" y="705900"/>
            <a:ext cx="575741" cy="319482"/>
          </a:xfrm>
          <a:prstGeom prst="rect">
            <a:avLst/>
          </a:prstGeom>
        </p:spPr>
      </p:pic>
    </p:spTree>
    <p:extLst>
      <p:ext uri="{BB962C8B-B14F-4D97-AF65-F5344CB8AC3E}">
        <p14:creationId xmlns:p14="http://schemas.microsoft.com/office/powerpoint/2010/main" val="3689021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E78604-AF18-43DF-BF4B-77F205F5BAEE}" type="datetimeFigureOut">
              <a:rPr lang="en-US" smtClean="0"/>
              <a:t>18/03/2026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768F5-5198-46EE-A2F2-651C9BA673A2}" type="slidenum">
              <a:rPr lang="en-US" smtClean="0"/>
              <a:t>‹#›</a:t>
            </a:fld>
            <a:endParaRPr lang="en-US"/>
          </a:p>
        </p:txBody>
      </p:sp>
    </p:spTree>
    <p:extLst>
      <p:ext uri="{BB962C8B-B14F-4D97-AF65-F5344CB8AC3E}">
        <p14:creationId xmlns:p14="http://schemas.microsoft.com/office/powerpoint/2010/main" val="1077654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9C0751-AFB2-4B55-9363-2B7F82C81F56}"/>
              </a:ext>
            </a:extLst>
          </p:cNvPr>
          <p:cNvSpPr>
            <a:spLocks noGrp="1"/>
          </p:cNvSpPr>
          <p:nvPr>
            <p:ph type="body" sz="quarter" idx="12"/>
          </p:nvPr>
        </p:nvSpPr>
        <p:spPr/>
        <p:txBody>
          <a:bodyPr>
            <a:normAutofit fontScale="92500" lnSpcReduction="10000"/>
          </a:bodyPr>
          <a:lstStyle/>
          <a:p>
            <a:r>
              <a:rPr lang="en-US"/>
              <a:t>JSW STEEL | VIJAYANAGAR WORKS</a:t>
            </a:r>
            <a:endParaRPr lang="en-IN"/>
          </a:p>
        </p:txBody>
      </p:sp>
      <p:sp>
        <p:nvSpPr>
          <p:cNvPr id="3" name="Title 2">
            <a:extLst>
              <a:ext uri="{FF2B5EF4-FFF2-40B4-BE49-F238E27FC236}">
                <a16:creationId xmlns:a16="http://schemas.microsoft.com/office/drawing/2014/main" id="{BCCCB6CD-E68E-43BC-982F-922371961AF1}"/>
              </a:ext>
            </a:extLst>
          </p:cNvPr>
          <p:cNvSpPr>
            <a:spLocks noGrp="1"/>
          </p:cNvSpPr>
          <p:nvPr>
            <p:ph type="ctrTitle"/>
          </p:nvPr>
        </p:nvSpPr>
        <p:spPr>
          <a:xfrm>
            <a:off x="628650" y="2339433"/>
            <a:ext cx="8876078" cy="3183901"/>
          </a:xfrm>
        </p:spPr>
        <p:txBody>
          <a:bodyPr>
            <a:normAutofit/>
          </a:bodyPr>
          <a:lstStyle/>
          <a:p>
            <a:r>
              <a:rPr lang="en-US" sz="3600" dirty="0" smtClean="0"/>
              <a:t>IMPROVEMENT PROJECT – MATERIAL SPILLAGE CONTROL IN MHS</a:t>
            </a:r>
            <a:r>
              <a:rPr lang="en-US" sz="4400" dirty="0" smtClean="0"/>
              <a:t/>
            </a:r>
            <a:br>
              <a:rPr lang="en-US" sz="4400" dirty="0" smtClean="0"/>
            </a:br>
            <a:r>
              <a:rPr lang="en-US" sz="3600" dirty="0" smtClean="0"/>
              <a:t>[SMS4</a:t>
            </a:r>
            <a:r>
              <a:rPr lang="en-US" sz="3600" dirty="0"/>
              <a:t>]</a:t>
            </a:r>
            <a:endParaRPr lang="en-IN" sz="3600" dirty="0"/>
          </a:p>
        </p:txBody>
      </p:sp>
      <p:sp>
        <p:nvSpPr>
          <p:cNvPr id="4" name="Text Placeholder 1">
            <a:extLst>
              <a:ext uri="{FF2B5EF4-FFF2-40B4-BE49-F238E27FC236}">
                <a16:creationId xmlns:a16="http://schemas.microsoft.com/office/drawing/2014/main" id="{799C0751-AFB2-4B55-9363-2B7F82C81F56}"/>
              </a:ext>
            </a:extLst>
          </p:cNvPr>
          <p:cNvSpPr txBox="1">
            <a:spLocks/>
          </p:cNvSpPr>
          <p:nvPr/>
        </p:nvSpPr>
        <p:spPr bwMode="black">
          <a:xfrm>
            <a:off x="6096943" y="6425389"/>
            <a:ext cx="5972940" cy="327148"/>
          </a:xfrm>
          <a:prstGeom prst="rect">
            <a:avLst/>
          </a:prstGeom>
          <a:noFill/>
        </p:spPr>
        <p:txBody>
          <a:bodyPr vert="horz" lIns="0" tIns="0" rIns="0" bIns="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None/>
              <a:defRPr lang="en-US" sz="1600" b="1" kern="1200" baseline="0" dirty="0">
                <a:solidFill>
                  <a:srgbClr val="FFFFFF"/>
                </a:solidFill>
                <a:latin typeface="+mj-lt"/>
                <a:ea typeface="+mn-ea"/>
                <a:cs typeface="+mn-cs"/>
                <a:sym typeface="Trebuchet MS" panose="020B0603020202020204" pitchFamily="34" charset="0"/>
              </a:defRPr>
            </a:lvl1pPr>
            <a:lvl2pPr marL="320040" indent="-219456" algn="ctr" defTabSz="914400" rtl="0" eaLnBrk="1" latinLnBrk="0" hangingPunct="1">
              <a:lnSpc>
                <a:spcPct val="90000"/>
              </a:lnSpc>
              <a:spcBef>
                <a:spcPts val="0"/>
              </a:spcBef>
              <a:spcAft>
                <a:spcPts val="300"/>
              </a:spcAft>
              <a:buClr>
                <a:schemeClr val="tx2"/>
              </a:buClr>
              <a:buFont typeface="Arial" panose="020B0604020202020204" pitchFamily="34" charset="0"/>
              <a:buNone/>
              <a:defRPr lang="en-US" sz="1200" kern="1200">
                <a:solidFill>
                  <a:schemeClr val="tx1"/>
                </a:solidFill>
                <a:latin typeface="+mn-lt"/>
                <a:ea typeface="+mn-ea"/>
                <a:cs typeface="+mn-cs"/>
                <a:sym typeface="Trebuchet MS" panose="020B0603020202020204" pitchFamily="34" charset="0"/>
              </a:defRPr>
            </a:lvl2pPr>
            <a:lvl3pPr marL="0" indent="0" algn="ctr" defTabSz="914400" rtl="0" eaLnBrk="1" latinLnBrk="0" hangingPunct="1">
              <a:lnSpc>
                <a:spcPct val="90000"/>
              </a:lnSpc>
              <a:spcBef>
                <a:spcPts val="0"/>
              </a:spcBef>
              <a:spcAft>
                <a:spcPts val="300"/>
              </a:spcAft>
              <a:buClr>
                <a:schemeClr val="tx2"/>
              </a:buClr>
              <a:buFont typeface="Verdana" panose="020B0604030504040204" pitchFamily="34" charset="0"/>
              <a:buNone/>
              <a:defRPr lang="en-US" sz="1200" kern="1200">
                <a:solidFill>
                  <a:schemeClr val="tx1"/>
                </a:solidFill>
                <a:latin typeface="+mn-lt"/>
                <a:ea typeface="+mn-ea"/>
                <a:cs typeface="+mn-cs"/>
                <a:sym typeface="Trebuchet MS" panose="020B0603020202020204" pitchFamily="34" charset="0"/>
              </a:defRPr>
            </a:lvl3pPr>
            <a:lvl4pPr marL="228600" indent="0" algn="ctr" defTabSz="914400" rtl="0" eaLnBrk="1" latinLnBrk="0" hangingPunct="1">
              <a:lnSpc>
                <a:spcPct val="110000"/>
              </a:lnSpc>
              <a:spcBef>
                <a:spcPts val="300"/>
              </a:spcBef>
              <a:spcAft>
                <a:spcPts val="300"/>
              </a:spcAft>
              <a:buClr>
                <a:schemeClr val="tx2"/>
              </a:buClr>
              <a:buFont typeface="Arial" panose="020B0604020202020204" pitchFamily="34" charset="0"/>
              <a:buNone/>
              <a:defRPr lang="en-US" sz="1600" b="1" kern="1200">
                <a:solidFill>
                  <a:schemeClr val="tx2"/>
                </a:solidFill>
                <a:latin typeface="+mn-lt"/>
                <a:ea typeface="+mn-ea"/>
                <a:cs typeface="+mn-cs"/>
                <a:sym typeface="Trebuchet MS" panose="020B0603020202020204" pitchFamily="34" charset="0"/>
              </a:defRPr>
            </a:lvl4pPr>
            <a:lvl5pPr marL="457200" indent="0" algn="ctr" defTabSz="914400" rtl="0" eaLnBrk="1" latinLnBrk="0" hangingPunct="1">
              <a:lnSpc>
                <a:spcPct val="100000"/>
              </a:lnSpc>
              <a:spcBef>
                <a:spcPts val="0"/>
              </a:spcBef>
              <a:spcAft>
                <a:spcPts val="300"/>
              </a:spcAft>
              <a:buClrTx/>
              <a:buFont typeface="Arial" panose="020B0604020202020204" pitchFamily="34" charset="0"/>
              <a:buNone/>
              <a:defRPr lang="en-US" sz="1600" b="1" kern="1200">
                <a:solidFill>
                  <a:schemeClr val="tx1"/>
                </a:solidFill>
                <a:latin typeface="+mn-lt"/>
                <a:ea typeface="+mn-ea"/>
                <a:cs typeface="+mn-cs"/>
                <a:sym typeface="Trebuchet MS" panose="020B0603020202020204" pitchFamily="34" charset="0"/>
              </a:defRPr>
            </a:lvl5pPr>
            <a:lvl6pPr marL="320040" indent="-219456"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b="1"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b="1" kern="1200" baseline="0" dirty="0">
                <a:solidFill>
                  <a:schemeClr val="tx2"/>
                </a:solidFill>
                <a:latin typeface="+mn-lt"/>
                <a:ea typeface="+mn-ea"/>
                <a:cs typeface="+mn-cs"/>
                <a:sym typeface="Trebuchet MS" panose="020B0603020202020204" pitchFamily="34" charset="0"/>
              </a:defRPr>
            </a:lvl9pPr>
          </a:lstStyle>
          <a:p>
            <a:pPr algn="r"/>
            <a:r>
              <a:rPr lang="en-IN" sz="1800" dirty="0" smtClean="0"/>
              <a:t>23/02/2026</a:t>
            </a:r>
            <a:endParaRPr lang="en-IN" sz="1800" dirty="0"/>
          </a:p>
        </p:txBody>
      </p:sp>
    </p:spTree>
    <p:extLst>
      <p:ext uri="{BB962C8B-B14F-4D97-AF65-F5344CB8AC3E}">
        <p14:creationId xmlns:p14="http://schemas.microsoft.com/office/powerpoint/2010/main" val="12556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9892-ECFA-618D-B4B4-B3DD6435A2F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03E370F-703F-98F0-F034-F91A59047D07}"/>
              </a:ext>
            </a:extLst>
          </p:cNvPr>
          <p:cNvGrpSpPr/>
          <p:nvPr/>
        </p:nvGrpSpPr>
        <p:grpSpPr>
          <a:xfrm>
            <a:off x="1" y="657212"/>
            <a:ext cx="5167422" cy="413130"/>
            <a:chOff x="1" y="657212"/>
            <a:chExt cx="5167422" cy="413130"/>
          </a:xfrm>
        </p:grpSpPr>
        <p:pic>
          <p:nvPicPr>
            <p:cNvPr id="4" name="Picture 3">
              <a:extLst>
                <a:ext uri="{FF2B5EF4-FFF2-40B4-BE49-F238E27FC236}">
                  <a16:creationId xmlns:a16="http://schemas.microsoft.com/office/drawing/2014/main" id="{5273C931-7F74-F806-C16A-F629CC485DE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657212"/>
              <a:ext cx="522514" cy="289946"/>
            </a:xfrm>
            <a:prstGeom prst="rect">
              <a:avLst/>
            </a:prstGeom>
          </p:spPr>
        </p:pic>
        <p:cxnSp>
          <p:nvCxnSpPr>
            <p:cNvPr id="5" name="Straight Connector 4">
              <a:extLst>
                <a:ext uri="{FF2B5EF4-FFF2-40B4-BE49-F238E27FC236}">
                  <a16:creationId xmlns:a16="http://schemas.microsoft.com/office/drawing/2014/main" id="{B072B11D-C74F-9340-D014-9C7196D707EE}"/>
                </a:ext>
              </a:extLst>
            </p:cNvPr>
            <p:cNvCxnSpPr/>
            <p:nvPr/>
          </p:nvCxnSpPr>
          <p:spPr>
            <a:xfrm flipH="1">
              <a:off x="1" y="1059483"/>
              <a:ext cx="5167422" cy="10859"/>
            </a:xfrm>
            <a:prstGeom prst="line">
              <a:avLst/>
            </a:prstGeom>
            <a:ln w="19050">
              <a:solidFill>
                <a:srgbClr val="B3B2A4"/>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E7CD92C-8FF6-E1A4-59C0-DC654EA3116B}"/>
              </a:ext>
            </a:extLst>
          </p:cNvPr>
          <p:cNvSpPr/>
          <p:nvPr/>
        </p:nvSpPr>
        <p:spPr>
          <a:xfrm>
            <a:off x="699740" y="1685211"/>
            <a:ext cx="4790113" cy="4152551"/>
          </a:xfrm>
          <a:prstGeom prst="rect">
            <a:avLst/>
          </a:prstGeom>
          <a:blipFill>
            <a:blip r:embed="rId3"/>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EF54A5-9E72-A45B-84C6-8D82FE1A6CCD}"/>
              </a:ext>
            </a:extLst>
          </p:cNvPr>
          <p:cNvSpPr/>
          <p:nvPr/>
        </p:nvSpPr>
        <p:spPr>
          <a:xfrm>
            <a:off x="6363709" y="1713484"/>
            <a:ext cx="4790113" cy="4152551"/>
          </a:xfrm>
          <a:prstGeom prst="rect">
            <a:avLst/>
          </a:prstGeom>
          <a:blipFill>
            <a:blip r:embed="rId4"/>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3CB4A3-226D-386C-511E-F655A539D0B1}"/>
              </a:ext>
            </a:extLst>
          </p:cNvPr>
          <p:cNvSpPr txBox="1"/>
          <p:nvPr/>
        </p:nvSpPr>
        <p:spPr>
          <a:xfrm>
            <a:off x="1201551" y="1182667"/>
            <a:ext cx="3786492" cy="369332"/>
          </a:xfrm>
          <a:prstGeom prst="rect">
            <a:avLst/>
          </a:prstGeom>
          <a:noFill/>
          <a:ln>
            <a:solidFill>
              <a:schemeClr val="tx1"/>
            </a:solidFill>
          </a:ln>
        </p:spPr>
        <p:txBody>
          <a:bodyPr wrap="square" rtlCol="0">
            <a:spAutoFit/>
          </a:bodyPr>
          <a:lstStyle/>
          <a:p>
            <a:pPr algn="ctr"/>
            <a:r>
              <a:rPr lang="en-US" b="1">
                <a:solidFill>
                  <a:srgbClr val="FF0000"/>
                </a:solidFill>
              </a:rPr>
              <a:t>Before</a:t>
            </a:r>
          </a:p>
        </p:txBody>
      </p:sp>
      <p:sp>
        <p:nvSpPr>
          <p:cNvPr id="11" name="TextBox 10">
            <a:extLst>
              <a:ext uri="{FF2B5EF4-FFF2-40B4-BE49-F238E27FC236}">
                <a16:creationId xmlns:a16="http://schemas.microsoft.com/office/drawing/2014/main" id="{D0E45DB3-67A4-2EE1-F6F1-E66BBEC66CEE}"/>
              </a:ext>
            </a:extLst>
          </p:cNvPr>
          <p:cNvSpPr txBox="1"/>
          <p:nvPr/>
        </p:nvSpPr>
        <p:spPr>
          <a:xfrm>
            <a:off x="6865519" y="1182667"/>
            <a:ext cx="3786492" cy="369332"/>
          </a:xfrm>
          <a:prstGeom prst="rect">
            <a:avLst/>
          </a:prstGeom>
          <a:noFill/>
          <a:ln>
            <a:solidFill>
              <a:schemeClr val="tx1"/>
            </a:solidFill>
          </a:ln>
        </p:spPr>
        <p:txBody>
          <a:bodyPr wrap="square" rtlCol="0">
            <a:spAutoFit/>
          </a:bodyPr>
          <a:lstStyle/>
          <a:p>
            <a:pPr algn="ctr"/>
            <a:r>
              <a:rPr lang="en-US" b="1">
                <a:solidFill>
                  <a:srgbClr val="00B050"/>
                </a:solidFill>
              </a:rPr>
              <a:t>After</a:t>
            </a:r>
          </a:p>
        </p:txBody>
      </p:sp>
      <p:sp>
        <p:nvSpPr>
          <p:cNvPr id="2" name="Slide Number Placeholder 1">
            <a:extLst>
              <a:ext uri="{FF2B5EF4-FFF2-40B4-BE49-F238E27FC236}">
                <a16:creationId xmlns:a16="http://schemas.microsoft.com/office/drawing/2014/main" id="{C493BFEC-AFE9-D60D-E58F-1B5398C82FEA}"/>
              </a:ext>
            </a:extLst>
          </p:cNvPr>
          <p:cNvSpPr>
            <a:spLocks noGrp="1"/>
          </p:cNvSpPr>
          <p:nvPr>
            <p:ph type="sldNum" sz="quarter" idx="12"/>
          </p:nvPr>
        </p:nvSpPr>
        <p:spPr/>
        <p:txBody>
          <a:bodyPr/>
          <a:lstStyle/>
          <a:p>
            <a:fld id="{837F281B-8B0F-426E-8304-798653C3D360}" type="slidenum">
              <a:rPr lang="en-US" smtClean="0"/>
              <a:t>2</a:t>
            </a:fld>
            <a:endParaRPr lang="en-US"/>
          </a:p>
        </p:txBody>
      </p:sp>
      <p:sp>
        <p:nvSpPr>
          <p:cNvPr id="12" name="TextBox 11"/>
          <p:cNvSpPr txBox="1"/>
          <p:nvPr/>
        </p:nvSpPr>
        <p:spPr>
          <a:xfrm>
            <a:off x="595618" y="617520"/>
            <a:ext cx="7599147" cy="369332"/>
          </a:xfrm>
          <a:prstGeom prst="rect">
            <a:avLst/>
          </a:prstGeom>
          <a:noFill/>
        </p:spPr>
        <p:txBody>
          <a:bodyPr wrap="square" lIns="91440" tIns="45720" rIns="91440" bIns="45720" rtlCol="0" anchor="t">
            <a:spAutoFit/>
          </a:bodyPr>
          <a:lstStyle/>
          <a:p>
            <a:r>
              <a:rPr lang="en-US" b="1" dirty="0" smtClean="0">
                <a:solidFill>
                  <a:schemeClr val="accent5">
                    <a:lumMod val="75000"/>
                  </a:schemeClr>
                </a:solidFill>
                <a:latin typeface="Verdana" panose="020B0604030504040204" pitchFamily="34" charset="0"/>
                <a:ea typeface="Verdana" panose="020B0604030504040204" pitchFamily="34" charset="0"/>
              </a:rPr>
              <a:t>Spillage Control – </a:t>
            </a:r>
            <a:r>
              <a:rPr lang="en-US" b="1" dirty="0" smtClean="0">
                <a:solidFill>
                  <a:schemeClr val="accent5">
                    <a:lumMod val="75000"/>
                  </a:schemeClr>
                </a:solidFill>
                <a:latin typeface="Verdana" panose="020B0604030504040204" pitchFamily="34" charset="0"/>
                <a:ea typeface="Verdana" panose="020B0604030504040204" pitchFamily="34" charset="0"/>
              </a:rPr>
              <a:t>5.1 &amp; 5.2 </a:t>
            </a:r>
            <a:r>
              <a:rPr lang="en-US" b="1" dirty="0" smtClean="0">
                <a:solidFill>
                  <a:schemeClr val="accent5">
                    <a:lumMod val="75000"/>
                  </a:schemeClr>
                </a:solidFill>
                <a:latin typeface="Verdana" panose="020B0604030504040204" pitchFamily="34" charset="0"/>
                <a:ea typeface="Verdana" panose="020B0604030504040204" pitchFamily="34" charset="0"/>
              </a:rPr>
              <a:t>Discharge Chute</a:t>
            </a:r>
            <a:endParaRPr lang="en-US" b="1" dirty="0">
              <a:solidFill>
                <a:schemeClr val="accent5">
                  <a:lumMod val="75000"/>
                </a:schemeClr>
              </a:solidFill>
              <a:latin typeface="Verdana" panose="020B0604030504040204" pitchFamily="34" charset="0"/>
              <a:ea typeface="Verdana" panose="020B0604030504040204" pitchFamily="34" charset="0"/>
            </a:endParaRPr>
          </a:p>
        </p:txBody>
      </p:sp>
      <p:sp>
        <p:nvSpPr>
          <p:cNvPr id="3" name="Rectangle 2"/>
          <p:cNvSpPr/>
          <p:nvPr/>
        </p:nvSpPr>
        <p:spPr>
          <a:xfrm>
            <a:off x="1750628" y="2920238"/>
            <a:ext cx="2688336" cy="16824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99740" y="5975705"/>
            <a:ext cx="4790113" cy="646331"/>
          </a:xfrm>
          <a:prstGeom prst="rect">
            <a:avLst/>
          </a:prstGeom>
          <a:noFill/>
        </p:spPr>
        <p:txBody>
          <a:bodyPr wrap="square" rtlCol="0">
            <a:spAutoFit/>
          </a:bodyPr>
          <a:lstStyle/>
          <a:p>
            <a:pPr algn="just"/>
            <a:r>
              <a:rPr lang="en-US" sz="1200" b="1" u="sng" dirty="0" smtClean="0"/>
              <a:t>Before:</a:t>
            </a:r>
            <a:r>
              <a:rPr lang="en-US" sz="1200" dirty="0"/>
              <a:t> No skirt board was installed, which resulted in significant fines and lime spillage during material transfer from 5.1 and 5.2 </a:t>
            </a:r>
            <a:r>
              <a:rPr lang="en-US" sz="1200" dirty="0" err="1"/>
              <a:t>vibro</a:t>
            </a:r>
            <a:r>
              <a:rPr lang="en-US" sz="1200" dirty="0"/>
              <a:t>-feeders to the </a:t>
            </a:r>
            <a:r>
              <a:rPr lang="en-US" sz="1200" dirty="0" smtClean="0"/>
              <a:t>FARC-1 </a:t>
            </a:r>
            <a:r>
              <a:rPr lang="en-US" sz="1200" dirty="0"/>
              <a:t>conveyor, leading to material </a:t>
            </a:r>
            <a:r>
              <a:rPr lang="en-US" sz="1200" dirty="0" smtClean="0"/>
              <a:t>spillage.</a:t>
            </a:r>
            <a:endParaRPr lang="en-US" sz="1200" dirty="0"/>
          </a:p>
        </p:txBody>
      </p:sp>
      <p:sp>
        <p:nvSpPr>
          <p:cNvPr id="16" name="TextBox 15"/>
          <p:cNvSpPr txBox="1"/>
          <p:nvPr/>
        </p:nvSpPr>
        <p:spPr>
          <a:xfrm>
            <a:off x="6249011" y="5975705"/>
            <a:ext cx="5297535" cy="461665"/>
          </a:xfrm>
          <a:prstGeom prst="rect">
            <a:avLst/>
          </a:prstGeom>
          <a:noFill/>
        </p:spPr>
        <p:txBody>
          <a:bodyPr wrap="square" rtlCol="0">
            <a:spAutoFit/>
          </a:bodyPr>
          <a:lstStyle/>
          <a:p>
            <a:pPr algn="just"/>
            <a:r>
              <a:rPr lang="en-US" sz="1200" b="1" u="sng" dirty="0" smtClean="0"/>
              <a:t>After:</a:t>
            </a:r>
            <a:r>
              <a:rPr lang="en-US" sz="1200" dirty="0"/>
              <a:t> New skirt boards were fabricated and installed at both locations, ensuring proper sealing during material transfer. This has eliminated fines and lime spillage.</a:t>
            </a:r>
          </a:p>
        </p:txBody>
      </p:sp>
      <p:sp>
        <p:nvSpPr>
          <p:cNvPr id="13" name="Rectangle 12"/>
          <p:cNvSpPr/>
          <p:nvPr/>
        </p:nvSpPr>
        <p:spPr>
          <a:xfrm>
            <a:off x="6540742" y="2481944"/>
            <a:ext cx="1654024" cy="13995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4488EDE-3D2D-4764-7420-42441D1E755D}"/>
              </a:ext>
            </a:extLst>
          </p:cNvPr>
          <p:cNvSpPr txBox="1"/>
          <p:nvPr/>
        </p:nvSpPr>
        <p:spPr>
          <a:xfrm>
            <a:off x="6363709" y="4108335"/>
            <a:ext cx="2311310" cy="369332"/>
          </a:xfrm>
          <a:prstGeom prst="rect">
            <a:avLst/>
          </a:prstGeom>
          <a:noFill/>
        </p:spPr>
        <p:txBody>
          <a:bodyPr wrap="square" rtlCol="0">
            <a:spAutoFit/>
          </a:bodyPr>
          <a:lstStyle/>
          <a:p>
            <a:r>
              <a:rPr lang="en-US" dirty="0">
                <a:highlight>
                  <a:srgbClr val="FFFF00"/>
                </a:highlight>
              </a:rPr>
              <a:t>5.1 DISCHARGE CHUTE</a:t>
            </a:r>
            <a:endParaRPr lang="en-IN" dirty="0">
              <a:highlight>
                <a:srgbClr val="FFFF00"/>
              </a:highlight>
            </a:endParaRPr>
          </a:p>
        </p:txBody>
      </p:sp>
      <p:sp>
        <p:nvSpPr>
          <p:cNvPr id="15" name="Rectangle 14"/>
          <p:cNvSpPr/>
          <p:nvPr/>
        </p:nvSpPr>
        <p:spPr>
          <a:xfrm>
            <a:off x="9191874" y="2724540"/>
            <a:ext cx="1442697" cy="117565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E97F798-7060-B51E-0762-08A9FD07ABE7}"/>
              </a:ext>
            </a:extLst>
          </p:cNvPr>
          <p:cNvSpPr txBox="1"/>
          <p:nvPr/>
        </p:nvSpPr>
        <p:spPr>
          <a:xfrm>
            <a:off x="8897779" y="4108335"/>
            <a:ext cx="2456021" cy="369332"/>
          </a:xfrm>
          <a:prstGeom prst="rect">
            <a:avLst/>
          </a:prstGeom>
          <a:noFill/>
        </p:spPr>
        <p:txBody>
          <a:bodyPr wrap="square" rtlCol="0">
            <a:spAutoFit/>
          </a:bodyPr>
          <a:lstStyle/>
          <a:p>
            <a:r>
              <a:rPr lang="en-US" dirty="0">
                <a:highlight>
                  <a:srgbClr val="FFFF00"/>
                </a:highlight>
              </a:rPr>
              <a:t>5.2 DISCHARGE CHUTE</a:t>
            </a:r>
            <a:endParaRPr lang="en-IN" dirty="0">
              <a:highlight>
                <a:srgbClr val="FFFF00"/>
              </a:highlight>
            </a:endParaRPr>
          </a:p>
        </p:txBody>
      </p:sp>
    </p:spTree>
    <p:extLst>
      <p:ext uri="{BB962C8B-B14F-4D97-AF65-F5344CB8AC3E}">
        <p14:creationId xmlns:p14="http://schemas.microsoft.com/office/powerpoint/2010/main" val="3400955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9892-ECFA-618D-B4B4-B3DD6435A2F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03E370F-703F-98F0-F034-F91A59047D07}"/>
              </a:ext>
            </a:extLst>
          </p:cNvPr>
          <p:cNvGrpSpPr/>
          <p:nvPr/>
        </p:nvGrpSpPr>
        <p:grpSpPr>
          <a:xfrm>
            <a:off x="1" y="657212"/>
            <a:ext cx="5167422" cy="413130"/>
            <a:chOff x="1" y="657212"/>
            <a:chExt cx="5167422" cy="413130"/>
          </a:xfrm>
        </p:grpSpPr>
        <p:pic>
          <p:nvPicPr>
            <p:cNvPr id="4" name="Picture 3">
              <a:extLst>
                <a:ext uri="{FF2B5EF4-FFF2-40B4-BE49-F238E27FC236}">
                  <a16:creationId xmlns:a16="http://schemas.microsoft.com/office/drawing/2014/main" id="{5273C931-7F74-F806-C16A-F629CC485DE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657212"/>
              <a:ext cx="522514" cy="289946"/>
            </a:xfrm>
            <a:prstGeom prst="rect">
              <a:avLst/>
            </a:prstGeom>
          </p:spPr>
        </p:pic>
        <p:cxnSp>
          <p:nvCxnSpPr>
            <p:cNvPr id="5" name="Straight Connector 4">
              <a:extLst>
                <a:ext uri="{FF2B5EF4-FFF2-40B4-BE49-F238E27FC236}">
                  <a16:creationId xmlns:a16="http://schemas.microsoft.com/office/drawing/2014/main" id="{B072B11D-C74F-9340-D014-9C7196D707EE}"/>
                </a:ext>
              </a:extLst>
            </p:cNvPr>
            <p:cNvCxnSpPr/>
            <p:nvPr/>
          </p:nvCxnSpPr>
          <p:spPr>
            <a:xfrm flipH="1">
              <a:off x="1" y="1059483"/>
              <a:ext cx="5167422" cy="10859"/>
            </a:xfrm>
            <a:prstGeom prst="line">
              <a:avLst/>
            </a:prstGeom>
            <a:ln w="19050">
              <a:solidFill>
                <a:srgbClr val="B3B2A4"/>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E7CD92C-8FF6-E1A4-59C0-DC654EA3116B}"/>
              </a:ext>
            </a:extLst>
          </p:cNvPr>
          <p:cNvSpPr/>
          <p:nvPr/>
        </p:nvSpPr>
        <p:spPr>
          <a:xfrm>
            <a:off x="699740" y="1685211"/>
            <a:ext cx="4790113" cy="4152551"/>
          </a:xfrm>
          <a:prstGeom prst="rect">
            <a:avLst/>
          </a:prstGeom>
          <a:blipFill>
            <a:blip r:embed="rId3"/>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EF54A5-9E72-A45B-84C6-8D82FE1A6CCD}"/>
              </a:ext>
            </a:extLst>
          </p:cNvPr>
          <p:cNvSpPr/>
          <p:nvPr/>
        </p:nvSpPr>
        <p:spPr>
          <a:xfrm>
            <a:off x="6363709" y="1713484"/>
            <a:ext cx="4790113" cy="4152551"/>
          </a:xfrm>
          <a:prstGeom prst="rect">
            <a:avLst/>
          </a:prstGeom>
          <a:blipFill>
            <a:blip r:embed="rId4"/>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3CB4A3-226D-386C-511E-F655A539D0B1}"/>
              </a:ext>
            </a:extLst>
          </p:cNvPr>
          <p:cNvSpPr txBox="1"/>
          <p:nvPr/>
        </p:nvSpPr>
        <p:spPr>
          <a:xfrm>
            <a:off x="1201551" y="1182667"/>
            <a:ext cx="3786492" cy="369332"/>
          </a:xfrm>
          <a:prstGeom prst="rect">
            <a:avLst/>
          </a:prstGeom>
          <a:noFill/>
          <a:ln>
            <a:solidFill>
              <a:schemeClr val="tx1"/>
            </a:solidFill>
          </a:ln>
        </p:spPr>
        <p:txBody>
          <a:bodyPr wrap="square" rtlCol="0">
            <a:spAutoFit/>
          </a:bodyPr>
          <a:lstStyle/>
          <a:p>
            <a:pPr algn="ctr"/>
            <a:r>
              <a:rPr lang="en-US" b="1">
                <a:solidFill>
                  <a:srgbClr val="FF0000"/>
                </a:solidFill>
              </a:rPr>
              <a:t>Before</a:t>
            </a:r>
          </a:p>
        </p:txBody>
      </p:sp>
      <p:sp>
        <p:nvSpPr>
          <p:cNvPr id="11" name="TextBox 10">
            <a:extLst>
              <a:ext uri="{FF2B5EF4-FFF2-40B4-BE49-F238E27FC236}">
                <a16:creationId xmlns:a16="http://schemas.microsoft.com/office/drawing/2014/main" id="{D0E45DB3-67A4-2EE1-F6F1-E66BBEC66CEE}"/>
              </a:ext>
            </a:extLst>
          </p:cNvPr>
          <p:cNvSpPr txBox="1"/>
          <p:nvPr/>
        </p:nvSpPr>
        <p:spPr>
          <a:xfrm>
            <a:off x="6865519" y="1182667"/>
            <a:ext cx="3786492" cy="369332"/>
          </a:xfrm>
          <a:prstGeom prst="rect">
            <a:avLst/>
          </a:prstGeom>
          <a:noFill/>
          <a:ln>
            <a:solidFill>
              <a:schemeClr val="tx1"/>
            </a:solidFill>
          </a:ln>
        </p:spPr>
        <p:txBody>
          <a:bodyPr wrap="square" rtlCol="0">
            <a:spAutoFit/>
          </a:bodyPr>
          <a:lstStyle/>
          <a:p>
            <a:pPr algn="ctr"/>
            <a:r>
              <a:rPr lang="en-US" b="1">
                <a:solidFill>
                  <a:srgbClr val="00B050"/>
                </a:solidFill>
              </a:rPr>
              <a:t>After</a:t>
            </a:r>
          </a:p>
        </p:txBody>
      </p:sp>
      <p:sp>
        <p:nvSpPr>
          <p:cNvPr id="2" name="Slide Number Placeholder 1">
            <a:extLst>
              <a:ext uri="{FF2B5EF4-FFF2-40B4-BE49-F238E27FC236}">
                <a16:creationId xmlns:a16="http://schemas.microsoft.com/office/drawing/2014/main" id="{C493BFEC-AFE9-D60D-E58F-1B5398C82FEA}"/>
              </a:ext>
            </a:extLst>
          </p:cNvPr>
          <p:cNvSpPr>
            <a:spLocks noGrp="1"/>
          </p:cNvSpPr>
          <p:nvPr>
            <p:ph type="sldNum" sz="quarter" idx="12"/>
          </p:nvPr>
        </p:nvSpPr>
        <p:spPr/>
        <p:txBody>
          <a:bodyPr/>
          <a:lstStyle/>
          <a:p>
            <a:fld id="{837F281B-8B0F-426E-8304-798653C3D360}" type="slidenum">
              <a:rPr lang="en-US" smtClean="0"/>
              <a:t>3</a:t>
            </a:fld>
            <a:endParaRPr lang="en-US"/>
          </a:p>
        </p:txBody>
      </p:sp>
      <p:sp>
        <p:nvSpPr>
          <p:cNvPr id="12" name="TextBox 11"/>
          <p:cNvSpPr txBox="1"/>
          <p:nvPr/>
        </p:nvSpPr>
        <p:spPr>
          <a:xfrm>
            <a:off x="595618" y="617520"/>
            <a:ext cx="7599147" cy="369332"/>
          </a:xfrm>
          <a:prstGeom prst="rect">
            <a:avLst/>
          </a:prstGeom>
          <a:noFill/>
        </p:spPr>
        <p:txBody>
          <a:bodyPr wrap="square" lIns="91440" tIns="45720" rIns="91440" bIns="45720" rtlCol="0" anchor="t">
            <a:spAutoFit/>
          </a:bodyPr>
          <a:lstStyle/>
          <a:p>
            <a:r>
              <a:rPr lang="en-US" b="1" dirty="0" smtClean="0">
                <a:solidFill>
                  <a:schemeClr val="accent5">
                    <a:lumMod val="75000"/>
                  </a:schemeClr>
                </a:solidFill>
                <a:latin typeface="Verdana" panose="020B0604030504040204" pitchFamily="34" charset="0"/>
                <a:ea typeface="Verdana" panose="020B0604030504040204" pitchFamily="34" charset="0"/>
              </a:rPr>
              <a:t>Spillage Control –</a:t>
            </a:r>
            <a:r>
              <a:rPr lang="en-US" b="1" dirty="0">
                <a:solidFill>
                  <a:schemeClr val="accent5">
                    <a:lumMod val="75000"/>
                  </a:schemeClr>
                </a:solidFill>
                <a:latin typeface="Verdana" panose="020B0604030504040204" pitchFamily="34" charset="0"/>
                <a:ea typeface="Verdana" panose="020B0604030504040204" pitchFamily="34" charset="0"/>
              </a:rPr>
              <a:t> </a:t>
            </a:r>
            <a:r>
              <a:rPr lang="en-US" b="1" dirty="0" smtClean="0">
                <a:solidFill>
                  <a:schemeClr val="accent5">
                    <a:lumMod val="75000"/>
                  </a:schemeClr>
                </a:solidFill>
                <a:latin typeface="Verdana" panose="020B0604030504040204" pitchFamily="34" charset="0"/>
                <a:ea typeface="Verdana" panose="020B0604030504040204" pitchFamily="34" charset="0"/>
              </a:rPr>
              <a:t>HAC 1 Discharge Chute</a:t>
            </a:r>
            <a:endParaRPr lang="en-US" b="1" dirty="0">
              <a:solidFill>
                <a:schemeClr val="accent5">
                  <a:lumMod val="75000"/>
                </a:schemeClr>
              </a:solidFill>
              <a:latin typeface="Verdana" panose="020B0604030504040204" pitchFamily="34" charset="0"/>
              <a:ea typeface="Verdana" panose="020B0604030504040204" pitchFamily="34" charset="0"/>
            </a:endParaRPr>
          </a:p>
        </p:txBody>
      </p:sp>
      <p:sp>
        <p:nvSpPr>
          <p:cNvPr id="3" name="Rectangle 2"/>
          <p:cNvSpPr/>
          <p:nvPr/>
        </p:nvSpPr>
        <p:spPr>
          <a:xfrm>
            <a:off x="2781723" y="1869948"/>
            <a:ext cx="1613468" cy="16824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769220" y="2288827"/>
            <a:ext cx="1277112" cy="26060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17760" y="5866035"/>
            <a:ext cx="5732919" cy="830997"/>
          </a:xfrm>
          <a:prstGeom prst="rect">
            <a:avLst/>
          </a:prstGeom>
          <a:noFill/>
        </p:spPr>
        <p:txBody>
          <a:bodyPr wrap="square" rtlCol="0">
            <a:spAutoFit/>
          </a:bodyPr>
          <a:lstStyle/>
          <a:p>
            <a:pPr algn="just"/>
            <a:r>
              <a:rPr lang="en-US" sz="1200" b="1" u="sng" dirty="0" smtClean="0"/>
              <a:t>Before:</a:t>
            </a:r>
            <a:r>
              <a:rPr lang="en-US" sz="1200" dirty="0" smtClean="0"/>
              <a:t> Repetitive </a:t>
            </a:r>
            <a:r>
              <a:rPr lang="en-US" sz="1200" dirty="0"/>
              <a:t>puncturing of the HAC-1 discharge chute was causing continuous flux spillage. Previously installed SAIL hard liners were not suitable for flux handling, resulting in frequent damage. Replacement of these liners required at least two </a:t>
            </a:r>
            <a:r>
              <a:rPr lang="en-US" sz="1200" dirty="0" smtClean="0"/>
              <a:t>days </a:t>
            </a:r>
            <a:r>
              <a:rPr lang="en-US" sz="1200" dirty="0" err="1" smtClean="0"/>
              <a:t>everytime</a:t>
            </a:r>
            <a:r>
              <a:rPr lang="en-US" sz="1200" dirty="0" smtClean="0"/>
              <a:t>, </a:t>
            </a:r>
            <a:r>
              <a:rPr lang="en-US" sz="1200" dirty="0"/>
              <a:t>leading to operational delays and housekeeping issues.</a:t>
            </a:r>
          </a:p>
        </p:txBody>
      </p:sp>
      <p:sp>
        <p:nvSpPr>
          <p:cNvPr id="17" name="TextBox 16"/>
          <p:cNvSpPr txBox="1"/>
          <p:nvPr/>
        </p:nvSpPr>
        <p:spPr>
          <a:xfrm>
            <a:off x="6191471" y="5862834"/>
            <a:ext cx="5403121" cy="830997"/>
          </a:xfrm>
          <a:prstGeom prst="rect">
            <a:avLst/>
          </a:prstGeom>
          <a:noFill/>
        </p:spPr>
        <p:txBody>
          <a:bodyPr wrap="square" rtlCol="0">
            <a:spAutoFit/>
          </a:bodyPr>
          <a:lstStyle/>
          <a:p>
            <a:pPr algn="just"/>
            <a:r>
              <a:rPr lang="en-US" sz="1200" b="1" u="sng" dirty="0" smtClean="0"/>
              <a:t>After:</a:t>
            </a:r>
            <a:r>
              <a:rPr lang="en-US" sz="1200" dirty="0"/>
              <a:t> The complete chute was replaced with a modified design, and high manganese (High </a:t>
            </a:r>
            <a:r>
              <a:rPr lang="en-US" sz="1200" dirty="0" err="1"/>
              <a:t>Mn</a:t>
            </a:r>
            <a:r>
              <a:rPr lang="en-US" sz="1200" dirty="0"/>
              <a:t>) liners were installed with a CSK bolting arrangement. This modification improved durability and reduced liner replacement time to less than 4 hours, minimizing downtime and preventing flux spillage.</a:t>
            </a:r>
          </a:p>
        </p:txBody>
      </p:sp>
      <p:cxnSp>
        <p:nvCxnSpPr>
          <p:cNvPr id="15" name="Straight Arrow Connector 14">
            <a:extLst>
              <a:ext uri="{FF2B5EF4-FFF2-40B4-BE49-F238E27FC236}">
                <a16:creationId xmlns:a16="http://schemas.microsoft.com/office/drawing/2014/main" id="{134973E1-D307-150F-164F-4D9E3414906F}"/>
              </a:ext>
            </a:extLst>
          </p:cNvPr>
          <p:cNvCxnSpPr>
            <a:cxnSpLocks/>
          </p:cNvCxnSpPr>
          <p:nvPr/>
        </p:nvCxnSpPr>
        <p:spPr>
          <a:xfrm flipV="1">
            <a:off x="2209905" y="2711196"/>
            <a:ext cx="971398" cy="1366623"/>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FA6D17C-4B22-873B-5AF4-46C982717440}"/>
              </a:ext>
            </a:extLst>
          </p:cNvPr>
          <p:cNvSpPr txBox="1"/>
          <p:nvPr/>
        </p:nvSpPr>
        <p:spPr>
          <a:xfrm>
            <a:off x="1201552" y="4018158"/>
            <a:ext cx="2867110" cy="369332"/>
          </a:xfrm>
          <a:prstGeom prst="rect">
            <a:avLst/>
          </a:prstGeom>
          <a:noFill/>
        </p:spPr>
        <p:txBody>
          <a:bodyPr wrap="square" rtlCol="0">
            <a:spAutoFit/>
          </a:bodyPr>
          <a:lstStyle/>
          <a:p>
            <a:r>
              <a:rPr lang="en-US" dirty="0">
                <a:highlight>
                  <a:srgbClr val="FFFF00"/>
                </a:highlight>
              </a:rPr>
              <a:t>REPITATIVE PUNCTURE</a:t>
            </a:r>
            <a:endParaRPr lang="en-IN" dirty="0">
              <a:highlight>
                <a:srgbClr val="FFFF00"/>
              </a:highlight>
            </a:endParaRPr>
          </a:p>
        </p:txBody>
      </p:sp>
      <p:cxnSp>
        <p:nvCxnSpPr>
          <p:cNvPr id="19" name="Straight Arrow Connector 18">
            <a:extLst>
              <a:ext uri="{FF2B5EF4-FFF2-40B4-BE49-F238E27FC236}">
                <a16:creationId xmlns:a16="http://schemas.microsoft.com/office/drawing/2014/main" id="{26AE455F-3DC8-15C0-D192-EB90ABCB96BE}"/>
              </a:ext>
            </a:extLst>
          </p:cNvPr>
          <p:cNvCxnSpPr>
            <a:cxnSpLocks/>
          </p:cNvCxnSpPr>
          <p:nvPr/>
        </p:nvCxnSpPr>
        <p:spPr>
          <a:xfrm flipH="1" flipV="1">
            <a:off x="8772040" y="3552445"/>
            <a:ext cx="850132" cy="1503907"/>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DBDFB5C-0325-848F-82C7-A9643CA6EFD4}"/>
              </a:ext>
            </a:extLst>
          </p:cNvPr>
          <p:cNvSpPr txBox="1"/>
          <p:nvPr/>
        </p:nvSpPr>
        <p:spPr>
          <a:xfrm>
            <a:off x="8201147" y="5059322"/>
            <a:ext cx="2551751" cy="369332"/>
          </a:xfrm>
          <a:prstGeom prst="rect">
            <a:avLst/>
          </a:prstGeom>
          <a:noFill/>
        </p:spPr>
        <p:txBody>
          <a:bodyPr wrap="square" rtlCol="0">
            <a:spAutoFit/>
          </a:bodyPr>
          <a:lstStyle/>
          <a:p>
            <a:r>
              <a:rPr lang="en-US" dirty="0">
                <a:highlight>
                  <a:srgbClr val="FFFF00"/>
                </a:highlight>
              </a:rPr>
              <a:t>NEW DISCHARGE CHUTE</a:t>
            </a:r>
            <a:endParaRPr lang="en-IN" dirty="0">
              <a:highlight>
                <a:srgbClr val="FFFF00"/>
              </a:highlight>
            </a:endParaRPr>
          </a:p>
        </p:txBody>
      </p:sp>
    </p:spTree>
    <p:extLst>
      <p:ext uri="{BB962C8B-B14F-4D97-AF65-F5344CB8AC3E}">
        <p14:creationId xmlns:p14="http://schemas.microsoft.com/office/powerpoint/2010/main" val="371082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9892-ECFA-618D-B4B4-B3DD6435A2F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03E370F-703F-98F0-F034-F91A59047D07}"/>
              </a:ext>
            </a:extLst>
          </p:cNvPr>
          <p:cNvGrpSpPr/>
          <p:nvPr/>
        </p:nvGrpSpPr>
        <p:grpSpPr>
          <a:xfrm>
            <a:off x="1" y="657212"/>
            <a:ext cx="5167422" cy="413130"/>
            <a:chOff x="1" y="657212"/>
            <a:chExt cx="5167422" cy="413130"/>
          </a:xfrm>
        </p:grpSpPr>
        <p:pic>
          <p:nvPicPr>
            <p:cNvPr id="4" name="Picture 3">
              <a:extLst>
                <a:ext uri="{FF2B5EF4-FFF2-40B4-BE49-F238E27FC236}">
                  <a16:creationId xmlns:a16="http://schemas.microsoft.com/office/drawing/2014/main" id="{5273C931-7F74-F806-C16A-F629CC485DE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657212"/>
              <a:ext cx="522514" cy="289946"/>
            </a:xfrm>
            <a:prstGeom prst="rect">
              <a:avLst/>
            </a:prstGeom>
          </p:spPr>
        </p:pic>
        <p:cxnSp>
          <p:nvCxnSpPr>
            <p:cNvPr id="5" name="Straight Connector 4">
              <a:extLst>
                <a:ext uri="{FF2B5EF4-FFF2-40B4-BE49-F238E27FC236}">
                  <a16:creationId xmlns:a16="http://schemas.microsoft.com/office/drawing/2014/main" id="{B072B11D-C74F-9340-D014-9C7196D707EE}"/>
                </a:ext>
              </a:extLst>
            </p:cNvPr>
            <p:cNvCxnSpPr/>
            <p:nvPr/>
          </p:nvCxnSpPr>
          <p:spPr>
            <a:xfrm flipH="1">
              <a:off x="1" y="1059483"/>
              <a:ext cx="5167422" cy="10859"/>
            </a:xfrm>
            <a:prstGeom prst="line">
              <a:avLst/>
            </a:prstGeom>
            <a:ln w="19050">
              <a:solidFill>
                <a:srgbClr val="B3B2A4"/>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E7CD92C-8FF6-E1A4-59C0-DC654EA3116B}"/>
              </a:ext>
            </a:extLst>
          </p:cNvPr>
          <p:cNvSpPr/>
          <p:nvPr/>
        </p:nvSpPr>
        <p:spPr>
          <a:xfrm>
            <a:off x="699740" y="1685211"/>
            <a:ext cx="4790113" cy="4152551"/>
          </a:xfrm>
          <a:prstGeom prst="rect">
            <a:avLst/>
          </a:prstGeom>
          <a:blipFill>
            <a:blip r:embed="rId3"/>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EF54A5-9E72-A45B-84C6-8D82FE1A6CCD}"/>
              </a:ext>
            </a:extLst>
          </p:cNvPr>
          <p:cNvSpPr/>
          <p:nvPr/>
        </p:nvSpPr>
        <p:spPr>
          <a:xfrm>
            <a:off x="6363709" y="1713484"/>
            <a:ext cx="4790113" cy="4152551"/>
          </a:xfrm>
          <a:prstGeom prst="rect">
            <a:avLst/>
          </a:prstGeom>
          <a:blipFill>
            <a:blip r:embed="rId4"/>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3CB4A3-226D-386C-511E-F655A539D0B1}"/>
              </a:ext>
            </a:extLst>
          </p:cNvPr>
          <p:cNvSpPr txBox="1"/>
          <p:nvPr/>
        </p:nvSpPr>
        <p:spPr>
          <a:xfrm>
            <a:off x="1201551" y="1182667"/>
            <a:ext cx="3786492" cy="369332"/>
          </a:xfrm>
          <a:prstGeom prst="rect">
            <a:avLst/>
          </a:prstGeom>
          <a:noFill/>
          <a:ln>
            <a:solidFill>
              <a:schemeClr val="tx1"/>
            </a:solidFill>
          </a:ln>
        </p:spPr>
        <p:txBody>
          <a:bodyPr wrap="square" rtlCol="0">
            <a:spAutoFit/>
          </a:bodyPr>
          <a:lstStyle/>
          <a:p>
            <a:pPr algn="ctr"/>
            <a:r>
              <a:rPr lang="en-US" b="1">
                <a:solidFill>
                  <a:srgbClr val="FF0000"/>
                </a:solidFill>
              </a:rPr>
              <a:t>Before</a:t>
            </a:r>
          </a:p>
        </p:txBody>
      </p:sp>
      <p:sp>
        <p:nvSpPr>
          <p:cNvPr id="11" name="TextBox 10">
            <a:extLst>
              <a:ext uri="{FF2B5EF4-FFF2-40B4-BE49-F238E27FC236}">
                <a16:creationId xmlns:a16="http://schemas.microsoft.com/office/drawing/2014/main" id="{D0E45DB3-67A4-2EE1-F6F1-E66BBEC66CEE}"/>
              </a:ext>
            </a:extLst>
          </p:cNvPr>
          <p:cNvSpPr txBox="1"/>
          <p:nvPr/>
        </p:nvSpPr>
        <p:spPr>
          <a:xfrm>
            <a:off x="6865519" y="1182667"/>
            <a:ext cx="3786492" cy="369332"/>
          </a:xfrm>
          <a:prstGeom prst="rect">
            <a:avLst/>
          </a:prstGeom>
          <a:noFill/>
          <a:ln>
            <a:solidFill>
              <a:schemeClr val="tx1"/>
            </a:solidFill>
          </a:ln>
        </p:spPr>
        <p:txBody>
          <a:bodyPr wrap="square" rtlCol="0">
            <a:spAutoFit/>
          </a:bodyPr>
          <a:lstStyle/>
          <a:p>
            <a:pPr algn="ctr"/>
            <a:r>
              <a:rPr lang="en-US" b="1">
                <a:solidFill>
                  <a:srgbClr val="00B050"/>
                </a:solidFill>
              </a:rPr>
              <a:t>After</a:t>
            </a:r>
          </a:p>
        </p:txBody>
      </p:sp>
      <p:sp>
        <p:nvSpPr>
          <p:cNvPr id="2" name="Slide Number Placeholder 1">
            <a:extLst>
              <a:ext uri="{FF2B5EF4-FFF2-40B4-BE49-F238E27FC236}">
                <a16:creationId xmlns:a16="http://schemas.microsoft.com/office/drawing/2014/main" id="{C493BFEC-AFE9-D60D-E58F-1B5398C82FEA}"/>
              </a:ext>
            </a:extLst>
          </p:cNvPr>
          <p:cNvSpPr>
            <a:spLocks noGrp="1"/>
          </p:cNvSpPr>
          <p:nvPr>
            <p:ph type="sldNum" sz="quarter" idx="12"/>
          </p:nvPr>
        </p:nvSpPr>
        <p:spPr/>
        <p:txBody>
          <a:bodyPr/>
          <a:lstStyle/>
          <a:p>
            <a:fld id="{837F281B-8B0F-426E-8304-798653C3D360}" type="slidenum">
              <a:rPr lang="en-US" smtClean="0"/>
              <a:t>4</a:t>
            </a:fld>
            <a:endParaRPr lang="en-US"/>
          </a:p>
        </p:txBody>
      </p:sp>
      <p:sp>
        <p:nvSpPr>
          <p:cNvPr id="12" name="TextBox 11"/>
          <p:cNvSpPr txBox="1"/>
          <p:nvPr/>
        </p:nvSpPr>
        <p:spPr>
          <a:xfrm>
            <a:off x="595618" y="617520"/>
            <a:ext cx="7599147" cy="369332"/>
          </a:xfrm>
          <a:prstGeom prst="rect">
            <a:avLst/>
          </a:prstGeom>
          <a:noFill/>
        </p:spPr>
        <p:txBody>
          <a:bodyPr wrap="square" lIns="91440" tIns="45720" rIns="91440" bIns="45720" rtlCol="0" anchor="t">
            <a:spAutoFit/>
          </a:bodyPr>
          <a:lstStyle/>
          <a:p>
            <a:r>
              <a:rPr lang="en-US" b="1" dirty="0" smtClean="0">
                <a:solidFill>
                  <a:schemeClr val="accent5">
                    <a:lumMod val="75000"/>
                  </a:schemeClr>
                </a:solidFill>
                <a:latin typeface="Verdana" panose="020B0604030504040204" pitchFamily="34" charset="0"/>
                <a:ea typeface="Verdana" panose="020B0604030504040204" pitchFamily="34" charset="0"/>
              </a:rPr>
              <a:t>Spillage Control –</a:t>
            </a:r>
            <a:r>
              <a:rPr lang="en-US" b="1" dirty="0">
                <a:solidFill>
                  <a:schemeClr val="accent5">
                    <a:lumMod val="75000"/>
                  </a:schemeClr>
                </a:solidFill>
                <a:latin typeface="Verdana" panose="020B0604030504040204" pitchFamily="34" charset="0"/>
                <a:ea typeface="Verdana" panose="020B0604030504040204" pitchFamily="34" charset="0"/>
              </a:rPr>
              <a:t> </a:t>
            </a:r>
            <a:r>
              <a:rPr lang="en-US" b="1" dirty="0" err="1" smtClean="0">
                <a:solidFill>
                  <a:schemeClr val="accent5">
                    <a:lumMod val="75000"/>
                  </a:schemeClr>
                </a:solidFill>
                <a:latin typeface="Verdana" panose="020B0604030504040204" pitchFamily="34" charset="0"/>
                <a:ea typeface="Verdana" panose="020B0604030504040204" pitchFamily="34" charset="0"/>
              </a:rPr>
              <a:t>Vibro</a:t>
            </a:r>
            <a:r>
              <a:rPr lang="en-US" b="1" dirty="0" smtClean="0">
                <a:solidFill>
                  <a:schemeClr val="accent5">
                    <a:lumMod val="75000"/>
                  </a:schemeClr>
                </a:solidFill>
                <a:latin typeface="Verdana" panose="020B0604030504040204" pitchFamily="34" charset="0"/>
                <a:ea typeface="Verdana" panose="020B0604030504040204" pitchFamily="34" charset="0"/>
              </a:rPr>
              <a:t> Feeder 5</a:t>
            </a:r>
            <a:endParaRPr lang="en-US" b="1" dirty="0">
              <a:solidFill>
                <a:schemeClr val="accent5">
                  <a:lumMod val="75000"/>
                </a:schemeClr>
              </a:solidFill>
              <a:latin typeface="Verdana" panose="020B0604030504040204" pitchFamily="34" charset="0"/>
              <a:ea typeface="Verdana" panose="020B0604030504040204" pitchFamily="34" charset="0"/>
            </a:endParaRPr>
          </a:p>
        </p:txBody>
      </p:sp>
      <p:sp>
        <p:nvSpPr>
          <p:cNvPr id="3" name="Rectangle 2"/>
          <p:cNvSpPr/>
          <p:nvPr/>
        </p:nvSpPr>
        <p:spPr>
          <a:xfrm>
            <a:off x="1310082" y="3452327"/>
            <a:ext cx="2524799" cy="19314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865519" y="4338735"/>
            <a:ext cx="1420065" cy="4758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95618" y="6001806"/>
            <a:ext cx="5055374" cy="646331"/>
          </a:xfrm>
          <a:prstGeom prst="rect">
            <a:avLst/>
          </a:prstGeom>
          <a:noFill/>
        </p:spPr>
        <p:txBody>
          <a:bodyPr wrap="square" rtlCol="0">
            <a:spAutoFit/>
          </a:bodyPr>
          <a:lstStyle/>
          <a:p>
            <a:pPr algn="just"/>
            <a:r>
              <a:rPr lang="en-US" sz="1200" b="1" u="sng" dirty="0" smtClean="0"/>
              <a:t>Before:</a:t>
            </a:r>
            <a:r>
              <a:rPr lang="en-US" sz="1200" dirty="0"/>
              <a:t> Continuous spillage of fine flux particles was observed due to improper covering and sealing of the receiving chute openings, resulting in material </a:t>
            </a:r>
            <a:r>
              <a:rPr lang="en-US" sz="1200" dirty="0" smtClean="0"/>
              <a:t>leakage.</a:t>
            </a:r>
            <a:endParaRPr lang="en-US" sz="1200" dirty="0"/>
          </a:p>
        </p:txBody>
      </p:sp>
      <p:sp>
        <p:nvSpPr>
          <p:cNvPr id="18" name="TextBox 17"/>
          <p:cNvSpPr txBox="1"/>
          <p:nvPr/>
        </p:nvSpPr>
        <p:spPr>
          <a:xfrm>
            <a:off x="6152562" y="6001806"/>
            <a:ext cx="5444367" cy="646331"/>
          </a:xfrm>
          <a:prstGeom prst="rect">
            <a:avLst/>
          </a:prstGeom>
          <a:noFill/>
        </p:spPr>
        <p:txBody>
          <a:bodyPr wrap="square" rtlCol="0">
            <a:spAutoFit/>
          </a:bodyPr>
          <a:lstStyle/>
          <a:p>
            <a:pPr algn="just"/>
            <a:r>
              <a:rPr lang="en-US" sz="1200" b="1" u="sng" dirty="0" smtClean="0"/>
              <a:t>After:</a:t>
            </a:r>
            <a:r>
              <a:rPr lang="en-US" sz="1200" dirty="0"/>
              <a:t> All openings between the </a:t>
            </a:r>
            <a:r>
              <a:rPr lang="en-US" sz="1200" dirty="0" err="1"/>
              <a:t>vibro</a:t>
            </a:r>
            <a:r>
              <a:rPr lang="en-US" sz="1200" dirty="0"/>
              <a:t>-feeder and receiving chute were covered with plates, ensuring proper sealing. This eliminated the leakage path and stopped fines </a:t>
            </a:r>
            <a:r>
              <a:rPr lang="en-US" sz="1200" dirty="0" smtClean="0"/>
              <a:t>spillage.</a:t>
            </a:r>
            <a:endParaRPr lang="en-US" sz="1200" dirty="0"/>
          </a:p>
        </p:txBody>
      </p:sp>
      <p:sp>
        <p:nvSpPr>
          <p:cNvPr id="16" name="Rectangle 15"/>
          <p:cNvSpPr/>
          <p:nvPr/>
        </p:nvSpPr>
        <p:spPr>
          <a:xfrm>
            <a:off x="9178045" y="3357733"/>
            <a:ext cx="1608309" cy="1568830"/>
          </a:xfrm>
          <a:prstGeom prst="rect">
            <a:avLst/>
          </a:prstGeom>
          <a:noFill/>
          <a:ln w="38100">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684953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9892-ECFA-618D-B4B4-B3DD6435A2F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03E370F-703F-98F0-F034-F91A59047D07}"/>
              </a:ext>
            </a:extLst>
          </p:cNvPr>
          <p:cNvGrpSpPr/>
          <p:nvPr/>
        </p:nvGrpSpPr>
        <p:grpSpPr>
          <a:xfrm>
            <a:off x="1" y="657212"/>
            <a:ext cx="5167422" cy="413130"/>
            <a:chOff x="1" y="657212"/>
            <a:chExt cx="5167422" cy="413130"/>
          </a:xfrm>
        </p:grpSpPr>
        <p:pic>
          <p:nvPicPr>
            <p:cNvPr id="4" name="Picture 3">
              <a:extLst>
                <a:ext uri="{FF2B5EF4-FFF2-40B4-BE49-F238E27FC236}">
                  <a16:creationId xmlns:a16="http://schemas.microsoft.com/office/drawing/2014/main" id="{5273C931-7F74-F806-C16A-F629CC485DE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657212"/>
              <a:ext cx="522514" cy="289946"/>
            </a:xfrm>
            <a:prstGeom prst="rect">
              <a:avLst/>
            </a:prstGeom>
          </p:spPr>
        </p:pic>
        <p:cxnSp>
          <p:nvCxnSpPr>
            <p:cNvPr id="5" name="Straight Connector 4">
              <a:extLst>
                <a:ext uri="{FF2B5EF4-FFF2-40B4-BE49-F238E27FC236}">
                  <a16:creationId xmlns:a16="http://schemas.microsoft.com/office/drawing/2014/main" id="{B072B11D-C74F-9340-D014-9C7196D707EE}"/>
                </a:ext>
              </a:extLst>
            </p:cNvPr>
            <p:cNvCxnSpPr/>
            <p:nvPr/>
          </p:nvCxnSpPr>
          <p:spPr>
            <a:xfrm flipH="1">
              <a:off x="1" y="1059483"/>
              <a:ext cx="5167422" cy="10859"/>
            </a:xfrm>
            <a:prstGeom prst="line">
              <a:avLst/>
            </a:prstGeom>
            <a:ln w="19050">
              <a:solidFill>
                <a:srgbClr val="B3B2A4"/>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E7CD92C-8FF6-E1A4-59C0-DC654EA3116B}"/>
              </a:ext>
            </a:extLst>
          </p:cNvPr>
          <p:cNvSpPr/>
          <p:nvPr/>
        </p:nvSpPr>
        <p:spPr>
          <a:xfrm>
            <a:off x="699740" y="1685211"/>
            <a:ext cx="4790113" cy="4152551"/>
          </a:xfrm>
          <a:prstGeom prst="rect">
            <a:avLst/>
          </a:prstGeom>
          <a:blipFill>
            <a:blip r:embed="rId3"/>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EF54A5-9E72-A45B-84C6-8D82FE1A6CCD}"/>
              </a:ext>
            </a:extLst>
          </p:cNvPr>
          <p:cNvSpPr/>
          <p:nvPr/>
        </p:nvSpPr>
        <p:spPr>
          <a:xfrm>
            <a:off x="6363709" y="1713484"/>
            <a:ext cx="4790113" cy="4152551"/>
          </a:xfrm>
          <a:prstGeom prst="rect">
            <a:avLst/>
          </a:prstGeom>
          <a:blipFill>
            <a:blip r:embed="rId4"/>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3CB4A3-226D-386C-511E-F655A539D0B1}"/>
              </a:ext>
            </a:extLst>
          </p:cNvPr>
          <p:cNvSpPr txBox="1"/>
          <p:nvPr/>
        </p:nvSpPr>
        <p:spPr>
          <a:xfrm>
            <a:off x="1201551" y="1182667"/>
            <a:ext cx="3786492" cy="369332"/>
          </a:xfrm>
          <a:prstGeom prst="rect">
            <a:avLst/>
          </a:prstGeom>
          <a:noFill/>
          <a:ln>
            <a:solidFill>
              <a:schemeClr val="tx1"/>
            </a:solidFill>
          </a:ln>
        </p:spPr>
        <p:txBody>
          <a:bodyPr wrap="square" rtlCol="0">
            <a:spAutoFit/>
          </a:bodyPr>
          <a:lstStyle/>
          <a:p>
            <a:pPr algn="ctr"/>
            <a:r>
              <a:rPr lang="en-US" b="1">
                <a:solidFill>
                  <a:srgbClr val="FF0000"/>
                </a:solidFill>
              </a:rPr>
              <a:t>Before</a:t>
            </a:r>
          </a:p>
        </p:txBody>
      </p:sp>
      <p:sp>
        <p:nvSpPr>
          <p:cNvPr id="11" name="TextBox 10">
            <a:extLst>
              <a:ext uri="{FF2B5EF4-FFF2-40B4-BE49-F238E27FC236}">
                <a16:creationId xmlns:a16="http://schemas.microsoft.com/office/drawing/2014/main" id="{D0E45DB3-67A4-2EE1-F6F1-E66BBEC66CEE}"/>
              </a:ext>
            </a:extLst>
          </p:cNvPr>
          <p:cNvSpPr txBox="1"/>
          <p:nvPr/>
        </p:nvSpPr>
        <p:spPr>
          <a:xfrm>
            <a:off x="6865519" y="1182667"/>
            <a:ext cx="3786492" cy="369332"/>
          </a:xfrm>
          <a:prstGeom prst="rect">
            <a:avLst/>
          </a:prstGeom>
          <a:noFill/>
          <a:ln>
            <a:solidFill>
              <a:schemeClr val="tx1"/>
            </a:solidFill>
          </a:ln>
        </p:spPr>
        <p:txBody>
          <a:bodyPr wrap="square" rtlCol="0">
            <a:spAutoFit/>
          </a:bodyPr>
          <a:lstStyle/>
          <a:p>
            <a:pPr algn="ctr"/>
            <a:r>
              <a:rPr lang="en-US" b="1">
                <a:solidFill>
                  <a:srgbClr val="00B050"/>
                </a:solidFill>
              </a:rPr>
              <a:t>After</a:t>
            </a:r>
          </a:p>
        </p:txBody>
      </p:sp>
      <p:sp>
        <p:nvSpPr>
          <p:cNvPr id="2" name="Slide Number Placeholder 1">
            <a:extLst>
              <a:ext uri="{FF2B5EF4-FFF2-40B4-BE49-F238E27FC236}">
                <a16:creationId xmlns:a16="http://schemas.microsoft.com/office/drawing/2014/main" id="{C493BFEC-AFE9-D60D-E58F-1B5398C82FEA}"/>
              </a:ext>
            </a:extLst>
          </p:cNvPr>
          <p:cNvSpPr>
            <a:spLocks noGrp="1"/>
          </p:cNvSpPr>
          <p:nvPr>
            <p:ph type="sldNum" sz="quarter" idx="12"/>
          </p:nvPr>
        </p:nvSpPr>
        <p:spPr/>
        <p:txBody>
          <a:bodyPr/>
          <a:lstStyle/>
          <a:p>
            <a:fld id="{837F281B-8B0F-426E-8304-798653C3D360}" type="slidenum">
              <a:rPr lang="en-US" smtClean="0"/>
              <a:t>5</a:t>
            </a:fld>
            <a:endParaRPr lang="en-US"/>
          </a:p>
        </p:txBody>
      </p:sp>
      <p:sp>
        <p:nvSpPr>
          <p:cNvPr id="12" name="TextBox 11"/>
          <p:cNvSpPr txBox="1"/>
          <p:nvPr/>
        </p:nvSpPr>
        <p:spPr>
          <a:xfrm>
            <a:off x="595618" y="617520"/>
            <a:ext cx="7599147" cy="369332"/>
          </a:xfrm>
          <a:prstGeom prst="rect">
            <a:avLst/>
          </a:prstGeom>
          <a:noFill/>
        </p:spPr>
        <p:txBody>
          <a:bodyPr wrap="square" lIns="91440" tIns="45720" rIns="91440" bIns="45720" rtlCol="0" anchor="t">
            <a:spAutoFit/>
          </a:bodyPr>
          <a:lstStyle/>
          <a:p>
            <a:r>
              <a:rPr lang="en-US" b="1" dirty="0" smtClean="0">
                <a:solidFill>
                  <a:schemeClr val="accent5">
                    <a:lumMod val="75000"/>
                  </a:schemeClr>
                </a:solidFill>
                <a:latin typeface="Verdana" panose="020B0604030504040204" pitchFamily="34" charset="0"/>
                <a:ea typeface="Verdana" panose="020B0604030504040204" pitchFamily="34" charset="0"/>
              </a:rPr>
              <a:t>Spillage Control –</a:t>
            </a:r>
            <a:r>
              <a:rPr lang="en-US" b="1" dirty="0">
                <a:solidFill>
                  <a:schemeClr val="accent5">
                    <a:lumMod val="75000"/>
                  </a:schemeClr>
                </a:solidFill>
                <a:latin typeface="Verdana" panose="020B0604030504040204" pitchFamily="34" charset="0"/>
                <a:ea typeface="Verdana" panose="020B0604030504040204" pitchFamily="34" charset="0"/>
              </a:rPr>
              <a:t> </a:t>
            </a:r>
            <a:r>
              <a:rPr lang="en-US" b="1" dirty="0" smtClean="0">
                <a:solidFill>
                  <a:schemeClr val="accent5">
                    <a:lumMod val="75000"/>
                  </a:schemeClr>
                </a:solidFill>
                <a:latin typeface="Verdana" panose="020B0604030504040204" pitchFamily="34" charset="0"/>
                <a:ea typeface="Verdana" panose="020B0604030504040204" pitchFamily="34" charset="0"/>
              </a:rPr>
              <a:t>All </a:t>
            </a:r>
            <a:r>
              <a:rPr lang="en-US" b="1" dirty="0" err="1" smtClean="0">
                <a:solidFill>
                  <a:schemeClr val="accent5">
                    <a:lumMod val="75000"/>
                  </a:schemeClr>
                </a:solidFill>
                <a:latin typeface="Verdana" panose="020B0604030504040204" pitchFamily="34" charset="0"/>
                <a:ea typeface="Verdana" panose="020B0604030504040204" pitchFamily="34" charset="0"/>
              </a:rPr>
              <a:t>Vibro</a:t>
            </a:r>
            <a:r>
              <a:rPr lang="en-US" b="1" dirty="0">
                <a:solidFill>
                  <a:schemeClr val="accent5">
                    <a:lumMod val="75000"/>
                  </a:schemeClr>
                </a:solidFill>
                <a:latin typeface="Verdana" panose="020B0604030504040204" pitchFamily="34" charset="0"/>
                <a:ea typeface="Verdana" panose="020B0604030504040204" pitchFamily="34" charset="0"/>
              </a:rPr>
              <a:t> </a:t>
            </a:r>
            <a:r>
              <a:rPr lang="en-US" b="1" dirty="0" smtClean="0">
                <a:solidFill>
                  <a:schemeClr val="accent5">
                    <a:lumMod val="75000"/>
                  </a:schemeClr>
                </a:solidFill>
                <a:latin typeface="Verdana" panose="020B0604030504040204" pitchFamily="34" charset="0"/>
                <a:ea typeface="Verdana" panose="020B0604030504040204" pitchFamily="34" charset="0"/>
              </a:rPr>
              <a:t>feeder needle gates</a:t>
            </a:r>
            <a:endParaRPr lang="en-US" b="1" dirty="0">
              <a:solidFill>
                <a:schemeClr val="accent5">
                  <a:lumMod val="75000"/>
                </a:schemeClr>
              </a:solidFill>
              <a:latin typeface="Verdana" panose="020B0604030504040204" pitchFamily="34" charset="0"/>
              <a:ea typeface="Verdana" panose="020B0604030504040204" pitchFamily="34" charset="0"/>
            </a:endParaRPr>
          </a:p>
        </p:txBody>
      </p:sp>
      <p:sp>
        <p:nvSpPr>
          <p:cNvPr id="7" name="Rectangle 6"/>
          <p:cNvSpPr/>
          <p:nvPr/>
        </p:nvSpPr>
        <p:spPr>
          <a:xfrm>
            <a:off x="6865519" y="2661343"/>
            <a:ext cx="3887825" cy="23736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331474" y="6021084"/>
            <a:ext cx="5755773" cy="646331"/>
          </a:xfrm>
          <a:prstGeom prst="rect">
            <a:avLst/>
          </a:prstGeom>
          <a:noFill/>
        </p:spPr>
        <p:txBody>
          <a:bodyPr wrap="square" rtlCol="0">
            <a:spAutoFit/>
          </a:bodyPr>
          <a:lstStyle/>
          <a:p>
            <a:pPr algn="just"/>
            <a:r>
              <a:rPr lang="en-US" sz="1200" b="1" u="sng" dirty="0" smtClean="0"/>
              <a:t>Before:</a:t>
            </a:r>
            <a:r>
              <a:rPr lang="en-US" sz="1200" dirty="0" smtClean="0"/>
              <a:t> Continuous </a:t>
            </a:r>
            <a:r>
              <a:rPr lang="en-US" sz="1200" dirty="0"/>
              <a:t>fines spillage was observed from the needle gate openings of all 38 installed </a:t>
            </a:r>
            <a:r>
              <a:rPr lang="en-US" sz="1200" dirty="0" err="1"/>
              <a:t>vibro</a:t>
            </a:r>
            <a:r>
              <a:rPr lang="en-US" sz="1200" dirty="0"/>
              <a:t>-feeders, where needles are inserted for bunker isolation. The inadequate sealing at these openings resulted in persistent material leakage and housekeeping issues.</a:t>
            </a:r>
          </a:p>
        </p:txBody>
      </p:sp>
      <p:sp>
        <p:nvSpPr>
          <p:cNvPr id="17" name="TextBox 16"/>
          <p:cNvSpPr txBox="1"/>
          <p:nvPr/>
        </p:nvSpPr>
        <p:spPr>
          <a:xfrm>
            <a:off x="6191427" y="5982897"/>
            <a:ext cx="5882385" cy="830997"/>
          </a:xfrm>
          <a:prstGeom prst="rect">
            <a:avLst/>
          </a:prstGeom>
          <a:noFill/>
        </p:spPr>
        <p:txBody>
          <a:bodyPr wrap="square" rtlCol="0">
            <a:spAutoFit/>
          </a:bodyPr>
          <a:lstStyle/>
          <a:p>
            <a:pPr algn="just"/>
            <a:r>
              <a:rPr lang="en-US" sz="1200" b="1" u="sng" dirty="0" smtClean="0"/>
              <a:t>After:</a:t>
            </a:r>
            <a:r>
              <a:rPr lang="en-US" sz="1200" dirty="0"/>
              <a:t> Dummy plates with a bolting arrangement were fabricated and installed on all 38 </a:t>
            </a:r>
            <a:r>
              <a:rPr lang="en-US" sz="1200" dirty="0" err="1"/>
              <a:t>vibro</a:t>
            </a:r>
            <a:r>
              <a:rPr lang="en-US" sz="1200" dirty="0"/>
              <a:t>-feeders to seal the needle gate openings. This eliminated fines spillage completely. The dummy plates can be easily removed by unscrewing the bolts whenever needle insertion is required.</a:t>
            </a:r>
          </a:p>
        </p:txBody>
      </p:sp>
    </p:spTree>
    <p:extLst>
      <p:ext uri="{BB962C8B-B14F-4D97-AF65-F5344CB8AC3E}">
        <p14:creationId xmlns:p14="http://schemas.microsoft.com/office/powerpoint/2010/main" val="3057348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9892-ECFA-618D-B4B4-B3DD6435A2F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03E370F-703F-98F0-F034-F91A59047D07}"/>
              </a:ext>
            </a:extLst>
          </p:cNvPr>
          <p:cNvGrpSpPr/>
          <p:nvPr/>
        </p:nvGrpSpPr>
        <p:grpSpPr>
          <a:xfrm>
            <a:off x="1" y="657212"/>
            <a:ext cx="5167422" cy="413130"/>
            <a:chOff x="1" y="657212"/>
            <a:chExt cx="5167422" cy="413130"/>
          </a:xfrm>
        </p:grpSpPr>
        <p:pic>
          <p:nvPicPr>
            <p:cNvPr id="4" name="Picture 3">
              <a:extLst>
                <a:ext uri="{FF2B5EF4-FFF2-40B4-BE49-F238E27FC236}">
                  <a16:creationId xmlns:a16="http://schemas.microsoft.com/office/drawing/2014/main" id="{5273C931-7F74-F806-C16A-F629CC485DE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657212"/>
              <a:ext cx="522514" cy="289946"/>
            </a:xfrm>
            <a:prstGeom prst="rect">
              <a:avLst/>
            </a:prstGeom>
          </p:spPr>
        </p:pic>
        <p:cxnSp>
          <p:nvCxnSpPr>
            <p:cNvPr id="5" name="Straight Connector 4">
              <a:extLst>
                <a:ext uri="{FF2B5EF4-FFF2-40B4-BE49-F238E27FC236}">
                  <a16:creationId xmlns:a16="http://schemas.microsoft.com/office/drawing/2014/main" id="{B072B11D-C74F-9340-D014-9C7196D707EE}"/>
                </a:ext>
              </a:extLst>
            </p:cNvPr>
            <p:cNvCxnSpPr/>
            <p:nvPr/>
          </p:nvCxnSpPr>
          <p:spPr>
            <a:xfrm flipH="1">
              <a:off x="1" y="1059483"/>
              <a:ext cx="5167422" cy="10859"/>
            </a:xfrm>
            <a:prstGeom prst="line">
              <a:avLst/>
            </a:prstGeom>
            <a:ln w="19050">
              <a:solidFill>
                <a:srgbClr val="B3B2A4"/>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E7CD92C-8FF6-E1A4-59C0-DC654EA3116B}"/>
              </a:ext>
            </a:extLst>
          </p:cNvPr>
          <p:cNvSpPr/>
          <p:nvPr/>
        </p:nvSpPr>
        <p:spPr>
          <a:xfrm>
            <a:off x="699740" y="1685211"/>
            <a:ext cx="4790113" cy="4152551"/>
          </a:xfrm>
          <a:prstGeom prst="rect">
            <a:avLst/>
          </a:prstGeom>
          <a:blipFill>
            <a:blip r:embed="rId3"/>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EF54A5-9E72-A45B-84C6-8D82FE1A6CCD}"/>
              </a:ext>
            </a:extLst>
          </p:cNvPr>
          <p:cNvSpPr/>
          <p:nvPr/>
        </p:nvSpPr>
        <p:spPr>
          <a:xfrm>
            <a:off x="6363709" y="1713484"/>
            <a:ext cx="4790113" cy="4152551"/>
          </a:xfrm>
          <a:prstGeom prst="rect">
            <a:avLst/>
          </a:prstGeom>
          <a:blipFill>
            <a:blip r:embed="rId4"/>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3CB4A3-226D-386C-511E-F655A539D0B1}"/>
              </a:ext>
            </a:extLst>
          </p:cNvPr>
          <p:cNvSpPr txBox="1"/>
          <p:nvPr/>
        </p:nvSpPr>
        <p:spPr>
          <a:xfrm>
            <a:off x="1201551" y="1182667"/>
            <a:ext cx="3786492" cy="369332"/>
          </a:xfrm>
          <a:prstGeom prst="rect">
            <a:avLst/>
          </a:prstGeom>
          <a:noFill/>
          <a:ln>
            <a:solidFill>
              <a:schemeClr val="tx1"/>
            </a:solidFill>
          </a:ln>
        </p:spPr>
        <p:txBody>
          <a:bodyPr wrap="square" rtlCol="0">
            <a:spAutoFit/>
          </a:bodyPr>
          <a:lstStyle/>
          <a:p>
            <a:pPr algn="ctr"/>
            <a:r>
              <a:rPr lang="en-US" b="1">
                <a:solidFill>
                  <a:srgbClr val="FF0000"/>
                </a:solidFill>
              </a:rPr>
              <a:t>Before</a:t>
            </a:r>
          </a:p>
        </p:txBody>
      </p:sp>
      <p:sp>
        <p:nvSpPr>
          <p:cNvPr id="11" name="TextBox 10">
            <a:extLst>
              <a:ext uri="{FF2B5EF4-FFF2-40B4-BE49-F238E27FC236}">
                <a16:creationId xmlns:a16="http://schemas.microsoft.com/office/drawing/2014/main" id="{D0E45DB3-67A4-2EE1-F6F1-E66BBEC66CEE}"/>
              </a:ext>
            </a:extLst>
          </p:cNvPr>
          <p:cNvSpPr txBox="1"/>
          <p:nvPr/>
        </p:nvSpPr>
        <p:spPr>
          <a:xfrm>
            <a:off x="6865519" y="1182667"/>
            <a:ext cx="3786492" cy="369332"/>
          </a:xfrm>
          <a:prstGeom prst="rect">
            <a:avLst/>
          </a:prstGeom>
          <a:noFill/>
          <a:ln>
            <a:solidFill>
              <a:schemeClr val="tx1"/>
            </a:solidFill>
          </a:ln>
        </p:spPr>
        <p:txBody>
          <a:bodyPr wrap="square" rtlCol="0">
            <a:spAutoFit/>
          </a:bodyPr>
          <a:lstStyle/>
          <a:p>
            <a:pPr algn="ctr"/>
            <a:r>
              <a:rPr lang="en-US" b="1">
                <a:solidFill>
                  <a:srgbClr val="00B050"/>
                </a:solidFill>
              </a:rPr>
              <a:t>After</a:t>
            </a:r>
          </a:p>
        </p:txBody>
      </p:sp>
      <p:sp>
        <p:nvSpPr>
          <p:cNvPr id="2" name="Slide Number Placeholder 1">
            <a:extLst>
              <a:ext uri="{FF2B5EF4-FFF2-40B4-BE49-F238E27FC236}">
                <a16:creationId xmlns:a16="http://schemas.microsoft.com/office/drawing/2014/main" id="{C493BFEC-AFE9-D60D-E58F-1B5398C82FEA}"/>
              </a:ext>
            </a:extLst>
          </p:cNvPr>
          <p:cNvSpPr>
            <a:spLocks noGrp="1"/>
          </p:cNvSpPr>
          <p:nvPr>
            <p:ph type="sldNum" sz="quarter" idx="12"/>
          </p:nvPr>
        </p:nvSpPr>
        <p:spPr/>
        <p:txBody>
          <a:bodyPr/>
          <a:lstStyle/>
          <a:p>
            <a:fld id="{837F281B-8B0F-426E-8304-798653C3D360}" type="slidenum">
              <a:rPr lang="en-US" smtClean="0"/>
              <a:t>6</a:t>
            </a:fld>
            <a:endParaRPr lang="en-US"/>
          </a:p>
        </p:txBody>
      </p:sp>
      <p:sp>
        <p:nvSpPr>
          <p:cNvPr id="12" name="TextBox 11"/>
          <p:cNvSpPr txBox="1"/>
          <p:nvPr/>
        </p:nvSpPr>
        <p:spPr>
          <a:xfrm>
            <a:off x="595618" y="617520"/>
            <a:ext cx="7599147" cy="369332"/>
          </a:xfrm>
          <a:prstGeom prst="rect">
            <a:avLst/>
          </a:prstGeom>
          <a:noFill/>
        </p:spPr>
        <p:txBody>
          <a:bodyPr wrap="square" lIns="91440" tIns="45720" rIns="91440" bIns="45720" rtlCol="0" anchor="t">
            <a:spAutoFit/>
          </a:bodyPr>
          <a:lstStyle/>
          <a:p>
            <a:r>
              <a:rPr lang="en-US" b="1" dirty="0" smtClean="0">
                <a:solidFill>
                  <a:schemeClr val="accent5">
                    <a:lumMod val="75000"/>
                  </a:schemeClr>
                </a:solidFill>
                <a:latin typeface="Verdana" panose="020B0604030504040204" pitchFamily="34" charset="0"/>
                <a:ea typeface="Verdana" panose="020B0604030504040204" pitchFamily="34" charset="0"/>
              </a:rPr>
              <a:t>Spillage Control –</a:t>
            </a:r>
            <a:r>
              <a:rPr lang="en-US" b="1" dirty="0">
                <a:solidFill>
                  <a:schemeClr val="accent5">
                    <a:lumMod val="75000"/>
                  </a:schemeClr>
                </a:solidFill>
                <a:latin typeface="Verdana" panose="020B0604030504040204" pitchFamily="34" charset="0"/>
                <a:ea typeface="Verdana" panose="020B0604030504040204" pitchFamily="34" charset="0"/>
              </a:rPr>
              <a:t> </a:t>
            </a:r>
            <a:r>
              <a:rPr lang="en-US" b="1" dirty="0" smtClean="0">
                <a:solidFill>
                  <a:schemeClr val="accent5">
                    <a:lumMod val="75000"/>
                  </a:schemeClr>
                </a:solidFill>
                <a:latin typeface="Verdana" panose="020B0604030504040204" pitchFamily="34" charset="0"/>
                <a:ea typeface="Verdana" panose="020B0604030504040204" pitchFamily="34" charset="0"/>
              </a:rPr>
              <a:t>FAC 1 Tail End Side</a:t>
            </a:r>
            <a:endParaRPr lang="en-US" b="1" dirty="0">
              <a:solidFill>
                <a:schemeClr val="accent5">
                  <a:lumMod val="75000"/>
                </a:schemeClr>
              </a:solidFill>
              <a:latin typeface="Verdana" panose="020B0604030504040204" pitchFamily="34" charset="0"/>
              <a:ea typeface="Verdana" panose="020B0604030504040204" pitchFamily="34" charset="0"/>
            </a:endParaRPr>
          </a:p>
        </p:txBody>
      </p:sp>
      <p:sp>
        <p:nvSpPr>
          <p:cNvPr id="3" name="Rectangle 2"/>
          <p:cNvSpPr/>
          <p:nvPr/>
        </p:nvSpPr>
        <p:spPr>
          <a:xfrm>
            <a:off x="933061" y="3862873"/>
            <a:ext cx="1586205" cy="15582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927509" y="2612571"/>
            <a:ext cx="975520" cy="263123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647678" y="6022742"/>
            <a:ext cx="4894235" cy="276999"/>
          </a:xfrm>
          <a:prstGeom prst="rect">
            <a:avLst/>
          </a:prstGeom>
          <a:noFill/>
        </p:spPr>
        <p:txBody>
          <a:bodyPr wrap="square" rtlCol="0">
            <a:spAutoFit/>
          </a:bodyPr>
          <a:lstStyle/>
          <a:p>
            <a:r>
              <a:rPr lang="en-US" sz="1200" b="1" u="sng" dirty="0" smtClean="0"/>
              <a:t>Before:</a:t>
            </a:r>
            <a:r>
              <a:rPr lang="en-US" sz="1200" dirty="0" smtClean="0"/>
              <a:t> Continuous spillage of fine flux particles.</a:t>
            </a:r>
            <a:endParaRPr lang="en-US" sz="1200" dirty="0"/>
          </a:p>
        </p:txBody>
      </p:sp>
      <p:sp>
        <p:nvSpPr>
          <p:cNvPr id="23" name="TextBox 22"/>
          <p:cNvSpPr txBox="1"/>
          <p:nvPr/>
        </p:nvSpPr>
        <p:spPr>
          <a:xfrm>
            <a:off x="6295289" y="5999247"/>
            <a:ext cx="4906186" cy="461665"/>
          </a:xfrm>
          <a:prstGeom prst="rect">
            <a:avLst/>
          </a:prstGeom>
          <a:noFill/>
        </p:spPr>
        <p:txBody>
          <a:bodyPr wrap="square" rtlCol="0">
            <a:spAutoFit/>
          </a:bodyPr>
          <a:lstStyle/>
          <a:p>
            <a:pPr algn="just"/>
            <a:r>
              <a:rPr lang="en-US" sz="1200" b="1" u="sng" dirty="0" smtClean="0"/>
              <a:t>After:</a:t>
            </a:r>
            <a:r>
              <a:rPr lang="en-US" sz="1200" dirty="0" smtClean="0"/>
              <a:t> 100mm width restrictor plate fixed inside the receiving chute. Now this has eliminated the spillage.</a:t>
            </a:r>
            <a:endParaRPr lang="en-US" sz="1200" dirty="0"/>
          </a:p>
        </p:txBody>
      </p:sp>
      <p:sp>
        <p:nvSpPr>
          <p:cNvPr id="15" name="Rectangle 14"/>
          <p:cNvSpPr/>
          <p:nvPr/>
        </p:nvSpPr>
        <p:spPr>
          <a:xfrm>
            <a:off x="3968633" y="2482840"/>
            <a:ext cx="853115" cy="2557292"/>
          </a:xfrm>
          <a:prstGeom prst="rect">
            <a:avLst/>
          </a:prstGeom>
          <a:noFill/>
          <a:ln w="38100">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1" name="TextBox 20">
            <a:extLst>
              <a:ext uri="{FF2B5EF4-FFF2-40B4-BE49-F238E27FC236}">
                <a16:creationId xmlns:a16="http://schemas.microsoft.com/office/drawing/2014/main" id="{8FABFDE7-A18F-4F43-09AA-2A57CC9490CE}"/>
              </a:ext>
            </a:extLst>
          </p:cNvPr>
          <p:cNvSpPr txBox="1"/>
          <p:nvPr/>
        </p:nvSpPr>
        <p:spPr>
          <a:xfrm>
            <a:off x="6765694" y="5337196"/>
            <a:ext cx="1698171" cy="369332"/>
          </a:xfrm>
          <a:prstGeom prst="rect">
            <a:avLst/>
          </a:prstGeom>
          <a:noFill/>
        </p:spPr>
        <p:txBody>
          <a:bodyPr wrap="square" rtlCol="0">
            <a:spAutoFit/>
          </a:bodyPr>
          <a:lstStyle/>
          <a:p>
            <a:r>
              <a:rPr lang="en-US" dirty="0" smtClean="0">
                <a:highlight>
                  <a:srgbClr val="FFFF00"/>
                </a:highlight>
              </a:rPr>
              <a:t>Restrictor plate</a:t>
            </a:r>
            <a:endParaRPr lang="en-IN" dirty="0">
              <a:highlight>
                <a:srgbClr val="FFFF00"/>
              </a:highlight>
            </a:endParaRPr>
          </a:p>
        </p:txBody>
      </p:sp>
    </p:spTree>
    <p:extLst>
      <p:ext uri="{BB962C8B-B14F-4D97-AF65-F5344CB8AC3E}">
        <p14:creationId xmlns:p14="http://schemas.microsoft.com/office/powerpoint/2010/main" val="2077896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9892-ECFA-618D-B4B4-B3DD6435A2F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03E370F-703F-98F0-F034-F91A59047D07}"/>
              </a:ext>
            </a:extLst>
          </p:cNvPr>
          <p:cNvGrpSpPr/>
          <p:nvPr/>
        </p:nvGrpSpPr>
        <p:grpSpPr>
          <a:xfrm>
            <a:off x="1" y="657212"/>
            <a:ext cx="5167422" cy="413130"/>
            <a:chOff x="1" y="657212"/>
            <a:chExt cx="5167422" cy="413130"/>
          </a:xfrm>
        </p:grpSpPr>
        <p:pic>
          <p:nvPicPr>
            <p:cNvPr id="4" name="Picture 3">
              <a:extLst>
                <a:ext uri="{FF2B5EF4-FFF2-40B4-BE49-F238E27FC236}">
                  <a16:creationId xmlns:a16="http://schemas.microsoft.com/office/drawing/2014/main" id="{5273C931-7F74-F806-C16A-F629CC485DE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657212"/>
              <a:ext cx="522514" cy="289946"/>
            </a:xfrm>
            <a:prstGeom prst="rect">
              <a:avLst/>
            </a:prstGeom>
          </p:spPr>
        </p:pic>
        <p:cxnSp>
          <p:nvCxnSpPr>
            <p:cNvPr id="5" name="Straight Connector 4">
              <a:extLst>
                <a:ext uri="{FF2B5EF4-FFF2-40B4-BE49-F238E27FC236}">
                  <a16:creationId xmlns:a16="http://schemas.microsoft.com/office/drawing/2014/main" id="{B072B11D-C74F-9340-D014-9C7196D707EE}"/>
                </a:ext>
              </a:extLst>
            </p:cNvPr>
            <p:cNvCxnSpPr/>
            <p:nvPr/>
          </p:nvCxnSpPr>
          <p:spPr>
            <a:xfrm flipH="1">
              <a:off x="1" y="1059483"/>
              <a:ext cx="5167422" cy="10859"/>
            </a:xfrm>
            <a:prstGeom prst="line">
              <a:avLst/>
            </a:prstGeom>
            <a:ln w="19050">
              <a:solidFill>
                <a:srgbClr val="B3B2A4"/>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E7CD92C-8FF6-E1A4-59C0-DC654EA3116B}"/>
              </a:ext>
            </a:extLst>
          </p:cNvPr>
          <p:cNvSpPr/>
          <p:nvPr/>
        </p:nvSpPr>
        <p:spPr>
          <a:xfrm>
            <a:off x="699740" y="1685211"/>
            <a:ext cx="4790113" cy="4152551"/>
          </a:xfrm>
          <a:prstGeom prst="rect">
            <a:avLst/>
          </a:prstGeom>
          <a:blipFill>
            <a:blip r:embed="rId3"/>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EF54A5-9E72-A45B-84C6-8D82FE1A6CCD}"/>
              </a:ext>
            </a:extLst>
          </p:cNvPr>
          <p:cNvSpPr/>
          <p:nvPr/>
        </p:nvSpPr>
        <p:spPr>
          <a:xfrm>
            <a:off x="6363709" y="1713484"/>
            <a:ext cx="4790113" cy="4152551"/>
          </a:xfrm>
          <a:prstGeom prst="rect">
            <a:avLst/>
          </a:prstGeom>
          <a:blipFill>
            <a:blip r:embed="rId4"/>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3CB4A3-226D-386C-511E-F655A539D0B1}"/>
              </a:ext>
            </a:extLst>
          </p:cNvPr>
          <p:cNvSpPr txBox="1"/>
          <p:nvPr/>
        </p:nvSpPr>
        <p:spPr>
          <a:xfrm>
            <a:off x="1201551" y="1182667"/>
            <a:ext cx="3786492" cy="369332"/>
          </a:xfrm>
          <a:prstGeom prst="rect">
            <a:avLst/>
          </a:prstGeom>
          <a:noFill/>
          <a:ln>
            <a:solidFill>
              <a:schemeClr val="tx1"/>
            </a:solidFill>
          </a:ln>
        </p:spPr>
        <p:txBody>
          <a:bodyPr wrap="square" rtlCol="0">
            <a:spAutoFit/>
          </a:bodyPr>
          <a:lstStyle/>
          <a:p>
            <a:pPr algn="ctr"/>
            <a:r>
              <a:rPr lang="en-US" b="1">
                <a:solidFill>
                  <a:srgbClr val="FF0000"/>
                </a:solidFill>
              </a:rPr>
              <a:t>Before</a:t>
            </a:r>
          </a:p>
        </p:txBody>
      </p:sp>
      <p:sp>
        <p:nvSpPr>
          <p:cNvPr id="11" name="TextBox 10">
            <a:extLst>
              <a:ext uri="{FF2B5EF4-FFF2-40B4-BE49-F238E27FC236}">
                <a16:creationId xmlns:a16="http://schemas.microsoft.com/office/drawing/2014/main" id="{D0E45DB3-67A4-2EE1-F6F1-E66BBEC66CEE}"/>
              </a:ext>
            </a:extLst>
          </p:cNvPr>
          <p:cNvSpPr txBox="1"/>
          <p:nvPr/>
        </p:nvSpPr>
        <p:spPr>
          <a:xfrm>
            <a:off x="6865519" y="1182667"/>
            <a:ext cx="3786492" cy="369332"/>
          </a:xfrm>
          <a:prstGeom prst="rect">
            <a:avLst/>
          </a:prstGeom>
          <a:noFill/>
          <a:ln>
            <a:solidFill>
              <a:schemeClr val="tx1"/>
            </a:solidFill>
          </a:ln>
        </p:spPr>
        <p:txBody>
          <a:bodyPr wrap="square" rtlCol="0">
            <a:spAutoFit/>
          </a:bodyPr>
          <a:lstStyle/>
          <a:p>
            <a:pPr algn="ctr"/>
            <a:r>
              <a:rPr lang="en-US" b="1">
                <a:solidFill>
                  <a:srgbClr val="00B050"/>
                </a:solidFill>
              </a:rPr>
              <a:t>After</a:t>
            </a:r>
          </a:p>
        </p:txBody>
      </p:sp>
      <p:sp>
        <p:nvSpPr>
          <p:cNvPr id="2" name="Slide Number Placeholder 1">
            <a:extLst>
              <a:ext uri="{FF2B5EF4-FFF2-40B4-BE49-F238E27FC236}">
                <a16:creationId xmlns:a16="http://schemas.microsoft.com/office/drawing/2014/main" id="{C493BFEC-AFE9-D60D-E58F-1B5398C82FEA}"/>
              </a:ext>
            </a:extLst>
          </p:cNvPr>
          <p:cNvSpPr>
            <a:spLocks noGrp="1"/>
          </p:cNvSpPr>
          <p:nvPr>
            <p:ph type="sldNum" sz="quarter" idx="12"/>
          </p:nvPr>
        </p:nvSpPr>
        <p:spPr/>
        <p:txBody>
          <a:bodyPr/>
          <a:lstStyle/>
          <a:p>
            <a:fld id="{837F281B-8B0F-426E-8304-798653C3D360}" type="slidenum">
              <a:rPr lang="en-US" smtClean="0"/>
              <a:t>7</a:t>
            </a:fld>
            <a:endParaRPr lang="en-US"/>
          </a:p>
        </p:txBody>
      </p:sp>
      <p:sp>
        <p:nvSpPr>
          <p:cNvPr id="12" name="TextBox 11"/>
          <p:cNvSpPr txBox="1"/>
          <p:nvPr/>
        </p:nvSpPr>
        <p:spPr>
          <a:xfrm>
            <a:off x="595618" y="617520"/>
            <a:ext cx="7599147" cy="369332"/>
          </a:xfrm>
          <a:prstGeom prst="rect">
            <a:avLst/>
          </a:prstGeom>
          <a:noFill/>
        </p:spPr>
        <p:txBody>
          <a:bodyPr wrap="square" lIns="91440" tIns="45720" rIns="91440" bIns="45720" rtlCol="0" anchor="t">
            <a:spAutoFit/>
          </a:bodyPr>
          <a:lstStyle/>
          <a:p>
            <a:r>
              <a:rPr lang="en-US" b="1" dirty="0" smtClean="0">
                <a:solidFill>
                  <a:schemeClr val="accent5">
                    <a:lumMod val="75000"/>
                  </a:schemeClr>
                </a:solidFill>
                <a:latin typeface="Verdana" panose="020B0604030504040204" pitchFamily="34" charset="0"/>
                <a:ea typeface="Verdana" panose="020B0604030504040204" pitchFamily="34" charset="0"/>
              </a:rPr>
              <a:t>Spillage Control –</a:t>
            </a:r>
            <a:r>
              <a:rPr lang="en-US" b="1" dirty="0">
                <a:solidFill>
                  <a:schemeClr val="accent5">
                    <a:lumMod val="75000"/>
                  </a:schemeClr>
                </a:solidFill>
                <a:latin typeface="Verdana" panose="020B0604030504040204" pitchFamily="34" charset="0"/>
                <a:ea typeface="Verdana" panose="020B0604030504040204" pitchFamily="34" charset="0"/>
              </a:rPr>
              <a:t> </a:t>
            </a:r>
            <a:r>
              <a:rPr lang="en-US" b="1" dirty="0" smtClean="0">
                <a:solidFill>
                  <a:schemeClr val="accent5">
                    <a:lumMod val="75000"/>
                  </a:schemeClr>
                </a:solidFill>
                <a:latin typeface="Verdana" panose="020B0604030504040204" pitchFamily="34" charset="0"/>
                <a:ea typeface="Verdana" panose="020B0604030504040204" pitchFamily="34" charset="0"/>
              </a:rPr>
              <a:t>FAC 1 Tail End Side</a:t>
            </a:r>
            <a:endParaRPr lang="en-US" b="1" dirty="0">
              <a:solidFill>
                <a:schemeClr val="accent5">
                  <a:lumMod val="75000"/>
                </a:schemeClr>
              </a:solidFill>
              <a:latin typeface="Verdana" panose="020B0604030504040204" pitchFamily="34" charset="0"/>
              <a:ea typeface="Verdana" panose="020B0604030504040204" pitchFamily="34" charset="0"/>
            </a:endParaRPr>
          </a:p>
        </p:txBody>
      </p:sp>
      <p:sp>
        <p:nvSpPr>
          <p:cNvPr id="3" name="Rectangle 2"/>
          <p:cNvSpPr/>
          <p:nvPr/>
        </p:nvSpPr>
        <p:spPr>
          <a:xfrm>
            <a:off x="2432304" y="2478024"/>
            <a:ext cx="1005840" cy="21061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110729" y="2898648"/>
            <a:ext cx="1152144" cy="2044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30EC3ADC-6427-258A-E790-22D9425E3DB5}"/>
              </a:ext>
            </a:extLst>
          </p:cNvPr>
          <p:cNvCxnSpPr>
            <a:cxnSpLocks/>
          </p:cNvCxnSpPr>
          <p:nvPr/>
        </p:nvCxnSpPr>
        <p:spPr>
          <a:xfrm flipH="1">
            <a:off x="3094795" y="2179909"/>
            <a:ext cx="668696" cy="463019"/>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16A0227-A659-93CA-868C-D43487DDD114}"/>
              </a:ext>
            </a:extLst>
          </p:cNvPr>
          <p:cNvSpPr txBox="1"/>
          <p:nvPr/>
        </p:nvSpPr>
        <p:spPr>
          <a:xfrm>
            <a:off x="3222055" y="1797536"/>
            <a:ext cx="2263217" cy="369332"/>
          </a:xfrm>
          <a:prstGeom prst="rect">
            <a:avLst/>
          </a:prstGeom>
          <a:noFill/>
        </p:spPr>
        <p:txBody>
          <a:bodyPr wrap="square" rtlCol="0">
            <a:spAutoFit/>
          </a:bodyPr>
          <a:lstStyle/>
          <a:p>
            <a:r>
              <a:rPr lang="en-US" dirty="0">
                <a:highlight>
                  <a:srgbClr val="FFFF00"/>
                </a:highlight>
              </a:rPr>
              <a:t>20 Degree idler frame</a:t>
            </a:r>
            <a:endParaRPr lang="en-IN" dirty="0">
              <a:highlight>
                <a:srgbClr val="FFFF00"/>
              </a:highlight>
            </a:endParaRPr>
          </a:p>
        </p:txBody>
      </p:sp>
      <p:sp>
        <p:nvSpPr>
          <p:cNvPr id="17" name="TextBox 16">
            <a:extLst>
              <a:ext uri="{FF2B5EF4-FFF2-40B4-BE49-F238E27FC236}">
                <a16:creationId xmlns:a16="http://schemas.microsoft.com/office/drawing/2014/main" id="{C5EE05E7-3702-C78F-07EC-DFB68B076824}"/>
              </a:ext>
            </a:extLst>
          </p:cNvPr>
          <p:cNvSpPr txBox="1"/>
          <p:nvPr/>
        </p:nvSpPr>
        <p:spPr>
          <a:xfrm>
            <a:off x="8758765" y="1909299"/>
            <a:ext cx="2282165" cy="369332"/>
          </a:xfrm>
          <a:prstGeom prst="rect">
            <a:avLst/>
          </a:prstGeom>
          <a:noFill/>
        </p:spPr>
        <p:txBody>
          <a:bodyPr wrap="square" rtlCol="0">
            <a:spAutoFit/>
          </a:bodyPr>
          <a:lstStyle/>
          <a:p>
            <a:r>
              <a:rPr lang="en-US" dirty="0">
                <a:highlight>
                  <a:srgbClr val="FFFF00"/>
                </a:highlight>
              </a:rPr>
              <a:t>35 Degree idler frame</a:t>
            </a:r>
            <a:endParaRPr lang="en-IN" dirty="0">
              <a:highlight>
                <a:srgbClr val="FFFF00"/>
              </a:highlight>
            </a:endParaRPr>
          </a:p>
        </p:txBody>
      </p:sp>
      <p:cxnSp>
        <p:nvCxnSpPr>
          <p:cNvPr id="18" name="Straight Arrow Connector 17">
            <a:extLst>
              <a:ext uri="{FF2B5EF4-FFF2-40B4-BE49-F238E27FC236}">
                <a16:creationId xmlns:a16="http://schemas.microsoft.com/office/drawing/2014/main" id="{9F983570-9CF8-F514-DC12-162D05A9CF1F}"/>
              </a:ext>
            </a:extLst>
          </p:cNvPr>
          <p:cNvCxnSpPr>
            <a:cxnSpLocks/>
          </p:cNvCxnSpPr>
          <p:nvPr/>
        </p:nvCxnSpPr>
        <p:spPr>
          <a:xfrm flipH="1">
            <a:off x="8869680" y="2303823"/>
            <a:ext cx="566928" cy="701440"/>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9740" y="5911684"/>
            <a:ext cx="5032143" cy="1015663"/>
          </a:xfrm>
          <a:prstGeom prst="rect">
            <a:avLst/>
          </a:prstGeom>
          <a:noFill/>
        </p:spPr>
        <p:txBody>
          <a:bodyPr wrap="square" rtlCol="0">
            <a:spAutoFit/>
          </a:bodyPr>
          <a:lstStyle/>
          <a:p>
            <a:r>
              <a:rPr lang="en-US" sz="1200" b="1" u="sng" dirty="0" smtClean="0"/>
              <a:t>Before: </a:t>
            </a:r>
            <a:r>
              <a:rPr lang="en-US" sz="1200" dirty="0" smtClean="0"/>
              <a:t>Material </a:t>
            </a:r>
            <a:r>
              <a:rPr lang="en-US" sz="1200" dirty="0"/>
              <a:t>and fines spillage was observed near the discharge end on both sides of the conveyor. The BOFRSC discharge end was positioned close to the receiving chute where transition frames were installed, resulting in a gap between the skirt and conveyor belt. This improper sealing led to continuous material spillage.</a:t>
            </a:r>
          </a:p>
        </p:txBody>
      </p:sp>
      <p:sp>
        <p:nvSpPr>
          <p:cNvPr id="24" name="TextBox 23"/>
          <p:cNvSpPr txBox="1"/>
          <p:nvPr/>
        </p:nvSpPr>
        <p:spPr>
          <a:xfrm>
            <a:off x="6183465" y="5866035"/>
            <a:ext cx="5150599" cy="830997"/>
          </a:xfrm>
          <a:prstGeom prst="rect">
            <a:avLst/>
          </a:prstGeom>
          <a:noFill/>
        </p:spPr>
        <p:txBody>
          <a:bodyPr wrap="square" rtlCol="0">
            <a:spAutoFit/>
          </a:bodyPr>
          <a:lstStyle/>
          <a:p>
            <a:r>
              <a:rPr lang="en-US" sz="1200" b="1" u="sng" dirty="0" smtClean="0"/>
              <a:t>After:</a:t>
            </a:r>
            <a:r>
              <a:rPr lang="en-US" sz="1200" dirty="0" smtClean="0"/>
              <a:t> One </a:t>
            </a:r>
            <a:r>
              <a:rPr lang="en-US" sz="1200" dirty="0"/>
              <a:t>transition frame was removed and a 35° frame was installed, which reduced the gap between the skirt and conveyor belt. This modification eliminated the leakage path and successfully stopped fines and material spillage at the discharge end.</a:t>
            </a:r>
          </a:p>
        </p:txBody>
      </p:sp>
    </p:spTree>
    <p:extLst>
      <p:ext uri="{BB962C8B-B14F-4D97-AF65-F5344CB8AC3E}">
        <p14:creationId xmlns:p14="http://schemas.microsoft.com/office/powerpoint/2010/main" val="897164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9892-ECFA-618D-B4B4-B3DD6435A2F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03E370F-703F-98F0-F034-F91A59047D07}"/>
              </a:ext>
            </a:extLst>
          </p:cNvPr>
          <p:cNvGrpSpPr/>
          <p:nvPr/>
        </p:nvGrpSpPr>
        <p:grpSpPr>
          <a:xfrm>
            <a:off x="1" y="657212"/>
            <a:ext cx="5167422" cy="413130"/>
            <a:chOff x="1" y="657212"/>
            <a:chExt cx="5167422" cy="413130"/>
          </a:xfrm>
        </p:grpSpPr>
        <p:pic>
          <p:nvPicPr>
            <p:cNvPr id="4" name="Picture 3">
              <a:extLst>
                <a:ext uri="{FF2B5EF4-FFF2-40B4-BE49-F238E27FC236}">
                  <a16:creationId xmlns:a16="http://schemas.microsoft.com/office/drawing/2014/main" id="{5273C931-7F74-F806-C16A-F629CC485DE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657212"/>
              <a:ext cx="522514" cy="289946"/>
            </a:xfrm>
            <a:prstGeom prst="rect">
              <a:avLst/>
            </a:prstGeom>
          </p:spPr>
        </p:pic>
        <p:cxnSp>
          <p:nvCxnSpPr>
            <p:cNvPr id="5" name="Straight Connector 4">
              <a:extLst>
                <a:ext uri="{FF2B5EF4-FFF2-40B4-BE49-F238E27FC236}">
                  <a16:creationId xmlns:a16="http://schemas.microsoft.com/office/drawing/2014/main" id="{B072B11D-C74F-9340-D014-9C7196D707EE}"/>
                </a:ext>
              </a:extLst>
            </p:cNvPr>
            <p:cNvCxnSpPr/>
            <p:nvPr/>
          </p:nvCxnSpPr>
          <p:spPr>
            <a:xfrm flipH="1">
              <a:off x="1" y="1059483"/>
              <a:ext cx="5167422" cy="10859"/>
            </a:xfrm>
            <a:prstGeom prst="line">
              <a:avLst/>
            </a:prstGeom>
            <a:ln w="19050">
              <a:solidFill>
                <a:srgbClr val="B3B2A4"/>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E7CD92C-8FF6-E1A4-59C0-DC654EA3116B}"/>
              </a:ext>
            </a:extLst>
          </p:cNvPr>
          <p:cNvSpPr/>
          <p:nvPr/>
        </p:nvSpPr>
        <p:spPr>
          <a:xfrm>
            <a:off x="699740" y="1685211"/>
            <a:ext cx="4790113" cy="4152551"/>
          </a:xfrm>
          <a:prstGeom prst="rect">
            <a:avLst/>
          </a:prstGeom>
          <a:blipFill>
            <a:blip r:embed="rId3"/>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EF54A5-9E72-A45B-84C6-8D82FE1A6CCD}"/>
              </a:ext>
            </a:extLst>
          </p:cNvPr>
          <p:cNvSpPr/>
          <p:nvPr/>
        </p:nvSpPr>
        <p:spPr>
          <a:xfrm>
            <a:off x="6363709" y="1713484"/>
            <a:ext cx="4790113" cy="4152551"/>
          </a:xfrm>
          <a:prstGeom prst="rect">
            <a:avLst/>
          </a:prstGeom>
          <a:blipFill>
            <a:blip r:embed="rId4"/>
            <a:stretch>
              <a:fillRect/>
            </a:stretch>
          </a:blip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3CB4A3-226D-386C-511E-F655A539D0B1}"/>
              </a:ext>
            </a:extLst>
          </p:cNvPr>
          <p:cNvSpPr txBox="1"/>
          <p:nvPr/>
        </p:nvSpPr>
        <p:spPr>
          <a:xfrm>
            <a:off x="1201551" y="1182667"/>
            <a:ext cx="3786492" cy="369332"/>
          </a:xfrm>
          <a:prstGeom prst="rect">
            <a:avLst/>
          </a:prstGeom>
          <a:noFill/>
          <a:ln>
            <a:solidFill>
              <a:schemeClr val="tx1"/>
            </a:solidFill>
          </a:ln>
        </p:spPr>
        <p:txBody>
          <a:bodyPr wrap="square" rtlCol="0">
            <a:spAutoFit/>
          </a:bodyPr>
          <a:lstStyle/>
          <a:p>
            <a:pPr algn="ctr"/>
            <a:r>
              <a:rPr lang="en-US" b="1">
                <a:solidFill>
                  <a:srgbClr val="FF0000"/>
                </a:solidFill>
              </a:rPr>
              <a:t>Before</a:t>
            </a:r>
          </a:p>
        </p:txBody>
      </p:sp>
      <p:sp>
        <p:nvSpPr>
          <p:cNvPr id="11" name="TextBox 10">
            <a:extLst>
              <a:ext uri="{FF2B5EF4-FFF2-40B4-BE49-F238E27FC236}">
                <a16:creationId xmlns:a16="http://schemas.microsoft.com/office/drawing/2014/main" id="{D0E45DB3-67A4-2EE1-F6F1-E66BBEC66CEE}"/>
              </a:ext>
            </a:extLst>
          </p:cNvPr>
          <p:cNvSpPr txBox="1"/>
          <p:nvPr/>
        </p:nvSpPr>
        <p:spPr>
          <a:xfrm>
            <a:off x="6865519" y="1182667"/>
            <a:ext cx="3786492" cy="369332"/>
          </a:xfrm>
          <a:prstGeom prst="rect">
            <a:avLst/>
          </a:prstGeom>
          <a:noFill/>
          <a:ln>
            <a:solidFill>
              <a:schemeClr val="tx1"/>
            </a:solidFill>
          </a:ln>
        </p:spPr>
        <p:txBody>
          <a:bodyPr wrap="square" rtlCol="0">
            <a:spAutoFit/>
          </a:bodyPr>
          <a:lstStyle/>
          <a:p>
            <a:pPr algn="ctr"/>
            <a:r>
              <a:rPr lang="en-US" b="1">
                <a:solidFill>
                  <a:srgbClr val="00B050"/>
                </a:solidFill>
              </a:rPr>
              <a:t>After</a:t>
            </a:r>
          </a:p>
        </p:txBody>
      </p:sp>
      <p:sp>
        <p:nvSpPr>
          <p:cNvPr id="2" name="Slide Number Placeholder 1">
            <a:extLst>
              <a:ext uri="{FF2B5EF4-FFF2-40B4-BE49-F238E27FC236}">
                <a16:creationId xmlns:a16="http://schemas.microsoft.com/office/drawing/2014/main" id="{C493BFEC-AFE9-D60D-E58F-1B5398C82FEA}"/>
              </a:ext>
            </a:extLst>
          </p:cNvPr>
          <p:cNvSpPr>
            <a:spLocks noGrp="1"/>
          </p:cNvSpPr>
          <p:nvPr>
            <p:ph type="sldNum" sz="quarter" idx="12"/>
          </p:nvPr>
        </p:nvSpPr>
        <p:spPr/>
        <p:txBody>
          <a:bodyPr/>
          <a:lstStyle/>
          <a:p>
            <a:fld id="{837F281B-8B0F-426E-8304-798653C3D360}" type="slidenum">
              <a:rPr lang="en-US" smtClean="0"/>
              <a:t>8</a:t>
            </a:fld>
            <a:endParaRPr lang="en-US"/>
          </a:p>
        </p:txBody>
      </p:sp>
      <p:sp>
        <p:nvSpPr>
          <p:cNvPr id="12" name="TextBox 11"/>
          <p:cNvSpPr txBox="1"/>
          <p:nvPr/>
        </p:nvSpPr>
        <p:spPr>
          <a:xfrm>
            <a:off x="595618" y="617520"/>
            <a:ext cx="7599147" cy="369332"/>
          </a:xfrm>
          <a:prstGeom prst="rect">
            <a:avLst/>
          </a:prstGeom>
          <a:noFill/>
        </p:spPr>
        <p:txBody>
          <a:bodyPr wrap="square" lIns="91440" tIns="45720" rIns="91440" bIns="45720" rtlCol="0" anchor="t">
            <a:spAutoFit/>
          </a:bodyPr>
          <a:lstStyle/>
          <a:p>
            <a:r>
              <a:rPr lang="en-US" b="1" dirty="0" smtClean="0">
                <a:solidFill>
                  <a:schemeClr val="accent5">
                    <a:lumMod val="75000"/>
                  </a:schemeClr>
                </a:solidFill>
                <a:latin typeface="Verdana" panose="020B0604030504040204" pitchFamily="34" charset="0"/>
                <a:ea typeface="Verdana" panose="020B0604030504040204" pitchFamily="34" charset="0"/>
              </a:rPr>
              <a:t>Spillage Control –</a:t>
            </a:r>
            <a:r>
              <a:rPr lang="en-US" b="1" dirty="0">
                <a:solidFill>
                  <a:schemeClr val="accent5">
                    <a:lumMod val="75000"/>
                  </a:schemeClr>
                </a:solidFill>
                <a:latin typeface="Verdana" panose="020B0604030504040204" pitchFamily="34" charset="0"/>
                <a:ea typeface="Verdana" panose="020B0604030504040204" pitchFamily="34" charset="0"/>
              </a:rPr>
              <a:t> </a:t>
            </a:r>
            <a:r>
              <a:rPr lang="en-US" b="1" dirty="0" smtClean="0">
                <a:solidFill>
                  <a:schemeClr val="accent5">
                    <a:lumMod val="75000"/>
                  </a:schemeClr>
                </a:solidFill>
                <a:latin typeface="Verdana" panose="020B0604030504040204" pitchFamily="34" charset="0"/>
                <a:ea typeface="Verdana" panose="020B0604030504040204" pitchFamily="34" charset="0"/>
              </a:rPr>
              <a:t>FAC 1 Tail End Side</a:t>
            </a:r>
            <a:endParaRPr lang="en-US" b="1" dirty="0">
              <a:solidFill>
                <a:schemeClr val="accent5">
                  <a:lumMod val="75000"/>
                </a:schemeClr>
              </a:solidFill>
              <a:latin typeface="Verdana" panose="020B0604030504040204" pitchFamily="34" charset="0"/>
              <a:ea typeface="Verdana" panose="020B0604030504040204" pitchFamily="34" charset="0"/>
            </a:endParaRPr>
          </a:p>
        </p:txBody>
      </p:sp>
      <p:sp>
        <p:nvSpPr>
          <p:cNvPr id="3" name="Rectangle 2"/>
          <p:cNvSpPr/>
          <p:nvPr/>
        </p:nvSpPr>
        <p:spPr>
          <a:xfrm>
            <a:off x="2926080" y="2478025"/>
            <a:ext cx="877824" cy="10332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280607" y="2212612"/>
            <a:ext cx="1297915" cy="12986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5EE05E7-3702-C78F-07EC-DFB68B076824}"/>
              </a:ext>
            </a:extLst>
          </p:cNvPr>
          <p:cNvSpPr txBox="1"/>
          <p:nvPr/>
        </p:nvSpPr>
        <p:spPr>
          <a:xfrm>
            <a:off x="8646738" y="3810076"/>
            <a:ext cx="1893246" cy="369332"/>
          </a:xfrm>
          <a:prstGeom prst="rect">
            <a:avLst/>
          </a:prstGeom>
          <a:noFill/>
        </p:spPr>
        <p:txBody>
          <a:bodyPr wrap="square" rtlCol="0">
            <a:spAutoFit/>
          </a:bodyPr>
          <a:lstStyle/>
          <a:p>
            <a:r>
              <a:rPr lang="en-IN" dirty="0" smtClean="0">
                <a:highlight>
                  <a:srgbClr val="FFFF00"/>
                </a:highlight>
              </a:rPr>
              <a:t>New Skirt Rubber</a:t>
            </a:r>
            <a:endParaRPr lang="en-IN" dirty="0">
              <a:highlight>
                <a:srgbClr val="FFFF00"/>
              </a:highlight>
            </a:endParaRPr>
          </a:p>
        </p:txBody>
      </p:sp>
      <p:cxnSp>
        <p:nvCxnSpPr>
          <p:cNvPr id="18" name="Straight Arrow Connector 17">
            <a:extLst>
              <a:ext uri="{FF2B5EF4-FFF2-40B4-BE49-F238E27FC236}">
                <a16:creationId xmlns:a16="http://schemas.microsoft.com/office/drawing/2014/main" id="{9F983570-9CF8-F514-DC12-162D05A9CF1F}"/>
              </a:ext>
            </a:extLst>
          </p:cNvPr>
          <p:cNvCxnSpPr>
            <a:cxnSpLocks/>
          </p:cNvCxnSpPr>
          <p:nvPr/>
        </p:nvCxnSpPr>
        <p:spPr>
          <a:xfrm flipH="1" flipV="1">
            <a:off x="7750037" y="2739651"/>
            <a:ext cx="1147075" cy="1012091"/>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9740" y="5911684"/>
            <a:ext cx="5032143" cy="1015663"/>
          </a:xfrm>
          <a:prstGeom prst="rect">
            <a:avLst/>
          </a:prstGeom>
          <a:noFill/>
        </p:spPr>
        <p:txBody>
          <a:bodyPr wrap="square" rtlCol="0">
            <a:spAutoFit/>
          </a:bodyPr>
          <a:lstStyle/>
          <a:p>
            <a:r>
              <a:rPr lang="en-US" sz="1200" b="1" u="sng" dirty="0" smtClean="0"/>
              <a:t>Before: </a:t>
            </a:r>
            <a:r>
              <a:rPr lang="en-US" sz="1200" dirty="0" smtClean="0"/>
              <a:t>Material </a:t>
            </a:r>
            <a:r>
              <a:rPr lang="en-US" sz="1200" dirty="0"/>
              <a:t>and fines spillage was observed near the discharge end on both sides of the conveyor. The BOFRSC discharge end was positioned close to the receiving chute where transition frames were installed, resulting in a gap between the skirt and conveyor belt. This improper sealing led to continuous material spillage.</a:t>
            </a:r>
          </a:p>
        </p:txBody>
      </p:sp>
      <p:sp>
        <p:nvSpPr>
          <p:cNvPr id="24" name="TextBox 23"/>
          <p:cNvSpPr txBox="1"/>
          <p:nvPr/>
        </p:nvSpPr>
        <p:spPr>
          <a:xfrm>
            <a:off x="6183465" y="5866035"/>
            <a:ext cx="5150599" cy="830997"/>
          </a:xfrm>
          <a:prstGeom prst="rect">
            <a:avLst/>
          </a:prstGeom>
          <a:noFill/>
        </p:spPr>
        <p:txBody>
          <a:bodyPr wrap="square" rtlCol="0">
            <a:spAutoFit/>
          </a:bodyPr>
          <a:lstStyle/>
          <a:p>
            <a:r>
              <a:rPr lang="en-US" sz="1200" b="1" u="sng" dirty="0" smtClean="0"/>
              <a:t>After:</a:t>
            </a:r>
            <a:r>
              <a:rPr lang="en-US" sz="1200" dirty="0" smtClean="0"/>
              <a:t> One </a:t>
            </a:r>
            <a:r>
              <a:rPr lang="en-US" sz="1200" dirty="0"/>
              <a:t>transition frame was removed and a 35° frame was installed, which reduced the gap between the skirt and conveyor belt. This modification eliminated the leakage path and successfully stopped fines and material spillage at the discharge end.</a:t>
            </a:r>
          </a:p>
        </p:txBody>
      </p:sp>
      <p:sp>
        <p:nvSpPr>
          <p:cNvPr id="13" name="Rectangle 12"/>
          <p:cNvSpPr/>
          <p:nvPr/>
        </p:nvSpPr>
        <p:spPr>
          <a:xfrm>
            <a:off x="2395728" y="4416552"/>
            <a:ext cx="2322576" cy="13075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6768276" y="4419854"/>
            <a:ext cx="2322576" cy="13075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947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658C4-F64A-4763-AB7E-1EF123180A3F}"/>
              </a:ext>
            </a:extLst>
          </p:cNvPr>
          <p:cNvSpPr>
            <a:spLocks noGrp="1"/>
          </p:cNvSpPr>
          <p:nvPr>
            <p:ph type="title"/>
          </p:nvPr>
        </p:nvSpPr>
        <p:spPr/>
        <p:txBody>
          <a:bodyPr/>
          <a:lstStyle/>
          <a:p>
            <a:r>
              <a:rPr lang="en-US"/>
              <a:t>THANK YOU</a:t>
            </a:r>
            <a:endParaRPr lang="en-IN"/>
          </a:p>
        </p:txBody>
      </p:sp>
    </p:spTree>
    <p:extLst>
      <p:ext uri="{BB962C8B-B14F-4D97-AF65-F5344CB8AC3E}">
        <p14:creationId xmlns:p14="http://schemas.microsoft.com/office/powerpoint/2010/main" val="7461830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3.xml><?xml version="1.0" encoding="utf-8"?>
<p:tagLst xmlns:a="http://schemas.openxmlformats.org/drawingml/2006/main" xmlns:r="http://schemas.openxmlformats.org/officeDocument/2006/relationships" xmlns:p="http://schemas.openxmlformats.org/presentationml/2006/main">
  <p:tag name="EE4P_GRADIENT_OVERLAY" val="1"/>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JSW">
    <a:dk1>
      <a:srgbClr val="595959"/>
    </a:dk1>
    <a:lt1>
      <a:sysClr val="window" lastClr="FFFFFF"/>
    </a:lt1>
    <a:dk2>
      <a:srgbClr val="17469E"/>
    </a:dk2>
    <a:lt2>
      <a:srgbClr val="F2F2F2"/>
    </a:lt2>
    <a:accent1>
      <a:srgbClr val="091C3F"/>
    </a:accent1>
    <a:accent2>
      <a:srgbClr val="1D5AC9"/>
    </a:accent2>
    <a:accent3>
      <a:srgbClr val="BEB72B"/>
    </a:accent3>
    <a:accent4>
      <a:srgbClr val="719DEB"/>
    </a:accent4>
    <a:accent5>
      <a:srgbClr val="868686"/>
    </a:accent5>
    <a:accent6>
      <a:srgbClr val="D71921"/>
    </a:accent6>
    <a:hlink>
      <a:srgbClr val="7ED3F7"/>
    </a:hlink>
    <a:folHlink>
      <a:srgbClr val="00B050"/>
    </a:folHlink>
  </a:clrScheme>
</a:themeOverride>
</file>

<file path=docProps/app.xml><?xml version="1.0" encoding="utf-8"?>
<Properties xmlns="http://schemas.openxmlformats.org/officeDocument/2006/extended-properties" xmlns:vt="http://schemas.openxmlformats.org/officeDocument/2006/docPropsVTypes">
  <TotalTime>378</TotalTime>
  <Words>652</Words>
  <Application>Microsoft Office PowerPoint</Application>
  <PresentationFormat>Widescreen</PresentationFormat>
  <Paragraphs>54</Paragraphs>
  <Slides>9</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6" baseType="lpstr">
      <vt:lpstr>Arial</vt:lpstr>
      <vt:lpstr>Calibri</vt:lpstr>
      <vt:lpstr>Calibri Light</vt:lpstr>
      <vt:lpstr>Trebuchet MS</vt:lpstr>
      <vt:lpstr>Verdana</vt:lpstr>
      <vt:lpstr>Office Theme</vt:lpstr>
      <vt:lpstr>think-cell Slide</vt:lpstr>
      <vt:lpstr>IMPROVEMENT PROJECT – MATERIAL SPILLAGE CONTROL IN MHS [SMS4]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JSW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EMISSION CONTROL [SMS4]</dc:title>
  <dc:creator>MANISHA MUNDA</dc:creator>
  <cp:lastModifiedBy>MANISHA MUNDA</cp:lastModifiedBy>
  <cp:revision>11</cp:revision>
  <dcterms:created xsi:type="dcterms:W3CDTF">2026-03-18T05:56:08Z</dcterms:created>
  <dcterms:modified xsi:type="dcterms:W3CDTF">2026-03-18T12:14:37Z</dcterms:modified>
</cp:coreProperties>
</file>